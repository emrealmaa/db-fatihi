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62" r:id="rId9"/>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Orta Stil 3 - Vurgu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9" Type="http://schemas.openxmlformats.org/officeDocument/2006/relationships/slide" Target="slides/slide8.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customXml" Target="../customXml/item1.xml"/><Relationship Id="rId15" Type="http://schemas.openxmlformats.org/officeDocument/2006/relationships/customXml" Target="../customXml/item2.xml"/><Relationship Id="rId16" Type="http://schemas.openxmlformats.org/officeDocument/2006/relationships/customXml" Target="../customXml/item3.xml"/><Relationship Id="rId17" Type="http://schemas.openxmlformats.org/officeDocument/2006/relationships/notesMaster" Target="notesMasters/notesMaster1.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1" i="0">
                <a:solidFill>
                  <a:srgbClr val="0E2841"/>
                </a:solidFill>
                <a:latin typeface="Times New Roman"/>
              </a:rPr>
              <a:t>Index'li sorgu kaç kat hızlı</a:t>
            </a:r>
          </a:p>
        </c:rich>
      </c:tx>
      <c:layout/>
      <c:overlay val="0"/>
    </c:title>
    <c:autoTitleDeleted val="0"/>
    <c:plotArea>
      <c:barChart>
        <c:barDir val="bar"/>
        <c:grouping val="clustered"/>
        <c:ser>
          <c:idx val="0"/>
          <c:order val="0"/>
          <c:tx>
            <c:strRef>
              <c:f>Sheet1!$B$1</c:f>
              <c:strCache>
                <c:ptCount val="1"/>
                <c:pt idx="0">
                  <c:v>Hızlanma (kat)</c:v>
                </c:pt>
              </c:strCache>
            </c:strRef>
          </c:tx>
          <c:spPr>
            <a:solidFill>
              <a:srgbClr val="156082"/>
            </a:solidFill>
          </c:spPr>
          <c:cat>
            <c:strRef>
              <c:f>Sheet1!$A$2:$A$7</c:f>
              <c:strCache>
                <c:ptCount val="6"/>
                <c:pt idx="0">
                  <c:v>Hesabın siparişleri</c:v>
                </c:pt>
                <c:pt idx="1">
                  <c:v>Oyunun masadaki kopyaları</c:v>
                </c:pt>
                <c:pt idx="2">
                  <c:v>Masanın açık oturumu</c:v>
                </c:pt>
                <c:pt idx="3">
                  <c:v>Müşterinin geçmiş ziyaretleri</c:v>
                </c:pt>
                <c:pt idx="4">
                  <c:v>Son 7 günün cirosu</c:v>
                </c:pt>
                <c:pt idx="5">
                  <c:v>Oyun sırasındaki ilk masa</c:v>
                </c:pt>
              </c:strCache>
            </c:strRef>
          </c:cat>
          <c:val>
            <c:numRef>
              <c:f>Sheet1!$B$2:$B$7</c:f>
              <c:numCache>
                <c:formatCode>General</c:formatCode>
                <c:ptCount val="6"/>
                <c:pt idx="0">
                  <c:v>1615.8</c:v>
                </c:pt>
                <c:pt idx="1">
                  <c:v>594.0</c:v>
                </c:pt>
                <c:pt idx="2">
                  <c:v>274.7</c:v>
                </c:pt>
                <c:pt idx="3">
                  <c:v>236.2</c:v>
                </c:pt>
                <c:pt idx="4">
                  <c:v>78.2</c:v>
                </c:pt>
                <c:pt idx="5">
                  <c:v>34.9</c:v>
                </c:pt>
              </c:numCache>
            </c:numRef>
          </c:val>
        </c:ser>
        <c:dLbls>
          <c:numFmt formatCode="#,##0&quot;×&quot;" sourceLinked="0"/>
          <c:txPr>
            <a:bodyPr/>
            <a:lstStyle/>
            <a:p>
              <a:pPr>
                <a:defRPr sz="1400" b="1"/>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axMin"/>
        </c:scaling>
        <c:delete val="0"/>
        <c:axPos val="l"/>
        <c:majorTickMark val="out"/>
        <c:minorTickMark val="none"/>
        <c:tickLblPos val="nextTo"/>
        <c:spPr>
          <a:ln>
            <a:solidFill>
              <a:srgbClr val="BFBFBF"/>
            </a:solidFill>
          </a:ln>
        </c:spPr>
        <c:txPr>
          <a:bodyPr/>
          <a:lstStyle/>
          <a:p>
            <a:pPr>
              <a:defRPr sz="1400"/>
            </a:pPr>
          </a:p>
        </c:txPr>
        <c:crossAx val="-2113994440"/>
        <c:crosses val="autoZero"/>
        <c:auto val="1"/>
        <c:lblAlgn val="ctr"/>
        <c:lblOffset val="100"/>
        <c:noMultiLvlLbl val="0"/>
      </c:catAx>
      <c:valAx>
        <c:axId val="-2113994440"/>
        <c:scaling>
          <c:max val="2000.0"/>
        </c:scaling>
        <c:delete/>
        <c:axPos val="b"/>
        <c:majorTickMark val="out"/>
        <c:minorTickMark val="none"/>
        <c:tickLblPos val="nextTo"/>
        <c:crossAx val="-2068027336"/>
        <c:crosses val="autoZero"/>
      </c:valAx>
    </c:plotArea>
    <c:dispBlanksAs val="gap"/>
  </c:chart>
  <c:txPr>
    <a:bodyPr/>
    <a:lstStyle/>
    <a:p>
      <a:pPr>
        <a:defRPr sz="1400">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Karavana, kutu oyunu kafesinin masa, oyun kopyası, bekleme sırası, sipariş ve hesap işlerini yöneten bir sistem. Seçtiğimiz yol PostgreSQL. Kodlar ve belgeler github.com/emrealmaa/db-fatihi adresinde.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Kafede her oyunun sınırlı sayıda kopyası var. Popüler bir oyun için masalar bekliyor ve kimin sırası olduğu kâğıtla ya da akılla tutuluyordu. Hesap, kişi başı giriş ücreti ile yenilen içilenlerden oluşuyor; stok ve personel takibi dağınıktı. Çözümde masa panosu, oyun kataloğu, adil bekleme sırası, sipariş ve stok, nakit/kart hesap, rol bazlı yetki ve raporlar var. Temel fikir: iş kuralları uygulamada değil veritabanında.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Ön yüz React, arada Node.js ve Express API, arkada PostgreSQL 18. API her isteği, giriş yapan personelin rolüne karşılık gelen veritabanı rolüyle çalıştırır; yetkiyi uygulama değil veritabanı uygular. Her transaction başında app.personel_id ayarlanır, böylece işlemi kimin yaptığı kayıtlı kalır.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üç tablo. Merkezde oturum var: masanın açılıp kapanana kadarki hesap birimi. oturum_oyun ve siparis oturum ile oyun/ürün arasındaki çoktan çoğa köprüler. Ödeme oturumla bire bir, ayar ise tek satırlık bir tablo. Turuncu çerçeveli tablolar VIP Kulüp ile varsayılanlı sütun eklenen tablolar: yeni tablo açılmadı, mevcut veri bozulmadı.</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Şema 3NF. Birincil anahtarlar identity, doğal anahtarlara UNIQUE konuldu. Müsait adet ve hesap toplamı saklanmıyor, hesaplanıyor; bu güncelleme anomalisini önlüyor. Birim fiyat ve giriş ücreti bilinçli olarak o anın değeri olarak kopyalanıyor. Kısıt tarafında 36 CHECK, kısmi UNIQUE indexler ve 6 tetikleyici var; tetikleyici oyun satırını FOR UPDATE ile kilitleyerek iki garsonun son kopyayı aynı anda başlatmasını engelliyor.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Kopyası kalmayan oyun için masa o oyunun sırasına girer. Bir kopya boşalınca sp_sirayi_ilerlet çalışır ve sıradaki ilk masaya kopya ayrılır; ayrılan kopyayı başkası alamaz ama diğer oyunlar serbest, yani bir masanın beklemesi kafeyi kilitlemez. Masa seçmezse 5 dakika sonra sırasının sonuna gider. Sıra atlama bir tetikleyiciyle engelleniyor.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Dört kalem sayı: 16 prosedür, 12 fonksiyon, 15 view ve 6 tetikleyici. Örnek olarak sp_oturum_kapat tek transaction içinde oyunu iade eder, sırayı iptal eder, toplamı hesaplar, ödemeyi kaydeder ve sırayı ilerletir; ya hepsi olur ya hiçbiri.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Matristeki her satır, ilgili rolle veritabanına bağlanıp gerçekten çalıştırılan bir sorgunun sonucu; docs/YETKI.md bunu üretiyor. Garson ham müşteri tablosunu okuyamaz, yalnızca maskeli view'ı görür. VIP olmayan müşteriye VIP oyun verme ve VIP kata oturtma denemesi yönetici dahil hiçbir role izin verilmeden tetikleyicide reddedilir.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bin oturum ve 400 bin sipariş üzerinde altı kritik sorguyu EXPLAIN ANALYZE ile ölçtük; her ölçüm beş kez çalıştırılıp medyanı alındı. Index'siz ölçümde index bir transaction içinde düşürülüp geri alındı. Plan Seq Scan'den Index Scan'e dönüyor. En büyük kazanç bir hesabın siparişlerinde: 64,6 ms'den 0,04 ms'ye.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Standart müşteri VIP oyunu oynayamaz ve VIP katına oturamaz. Bu kural uygulamada değil tetikleyicide; bu yüzden API, başka bir istemci ya da elle yazılmış bir INSERT bunu atlayamaz, yönetici dahil. Ekran görüntüsünde standart bir müşteriyle masa açıp VIP oyun başlatmaya çalışıyoruz ve veritabanı reddediyor. VIP üyeliği yalnızca yönetici sp_musteri_vip ile verir. Migration eklemeli: varsayılanlı sütunlar eklendi, mevcut kayıtlar bozulmadı.</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Simülasyon sekmesinde kafe izometrik bir piksel-art sahne; müşteri grupları ve garsonlar gerçek API çağrılarıyla veritabanına yazıyor, yani raporlardaki veri bu simülasyondan geliyor. Solda kat 2: yemek asansörü ve servis tezgâhı. Sağda kat 3: VIP Kulüp; yıldız rozetli üyeler, VIP oyun vitrini, şömine ve kadife bariyer. Standart gruplar kat 3'ü ve VIP oyunları hiç görmez.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Raporlar sekmesi view'lardan okuyor. Kat geliri raporu v_kat_gelir: kat 2 yemek gelirini ve kat 3 VIP gelirini ayrı gösterir. Bir simülasyon gününde 103 hesap, toplam 83.255 TL ciro; kat 3'te 11 hesabın hepsi VIP ve 29.480 TL. VIP oyun kullanım raporu da v_vip_oyun_kullanimi ile oyun başına oturum ve oynayan VIP sayısını verir.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 kriter için istenen ve bizdeki karşılık. Sayılar gerçek PostgreSQL 18 veritabanından sayıldı. Testler: 62 veritabanı ve 12 API testi; testler ayrı karavana_test veritabanında çalışıyor, geliştirme verisi korunuyor.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 dakikalık demo. Garson girişiyle başlıyoruz, yeni müşteri ve masa açıyoruz, sıra atlama engelini gösteriyoruz, sipariş ve stok, kasiyerle hesap kapatma, sonra yetki kanıtı. Son olarak VIP kuralı: standart müşteriye VIP oyun vermeyi deneyip veritabanının reddini gösteriyoruz. Yedek: docs/ekran klasöründeki ekran görüntüleri.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Öğrendiğimiz en önemli şey kuralı veritabanına koymak: farklı istemciler olsa bile tutarlılık kalıyor. İkincisi türetilmiş değeri saklamamak. Üçüncüsü index'i ölçerek seçmek: farklar 35 ile 1.616 kat arasında çıktı. Geliştirme fikirleri: rezervasyon, çoklu şube, VIP üyelik seviyeleri ve simülasyonu gerçek sipariş verisiyle ayarlamak.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C41089A-5AA3-091F-9DC9-425843437DAC}"/>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60082FA5-D208-3428-65D6-EB4026E6C2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EE0062BB-373C-C6F3-4F4A-5DB90BC56B4D}"/>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D66C5CE1-1BEF-EF42-A36F-DC81EE333508}"/>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4A6F126-E741-DE36-266F-7053E32417DD}"/>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323066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EB5DA8E-FD09-D983-813D-659B253917E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412312E-B44D-A681-5129-EDDE2916D1C3}"/>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AF314AA-313C-1FF1-C26A-F20E7190562F}"/>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F6353D7D-4757-A63A-2843-C5149691871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E180C2E-C206-A59A-D8AF-2E688D84D602}"/>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1603319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3ACDC08-3CEE-9F12-653E-2EC3B9DCEAAA}"/>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448805D4-75EF-8E19-C3FB-A5AC8D7CB86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9D11248C-B684-8734-5E33-F7B193F92CE6}"/>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38773865-A01B-94CF-FA88-AD8DCAD5FC16}"/>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B532C6F0-D2BF-61EF-D16C-A896C604EF34}"/>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21565838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766F94E-FEF6-CDA4-8139-024D24E2732F}"/>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884BAD21-3E23-8388-65AF-4FC591030DDA}"/>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EBCE51AE-F347-22F2-A9C4-FF9E67EEAC11}"/>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E575D1C2-D1C7-87C9-6ED8-B0AC88FA40A3}"/>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6" name="Alt Bilgi Yer Tutucusu 5">
            <a:extLst>
              <a:ext uri="{FF2B5EF4-FFF2-40B4-BE49-F238E27FC236}">
                <a16:creationId xmlns:a16="http://schemas.microsoft.com/office/drawing/2014/main" id="{6EC4F981-34B4-A432-4F65-C02B669A441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002956B1-63AF-F13F-4247-DDEC2885B78F}"/>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2962103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92DEDB8-E22C-769F-AE0D-EB40D007A9AF}"/>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D54AC0DF-FA52-4770-98B2-EDA39B9F9B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EA831C55-30F6-B7D9-1D9C-96A5287FD97F}"/>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2EB47437-F85B-3DE6-8280-17730B2FD9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2043247F-84DD-0DEC-79DB-B8328A776911}"/>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449FFFEB-74BA-65DF-BD58-8CACE0764AB5}"/>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8" name="Alt Bilgi Yer Tutucusu 7">
            <a:extLst>
              <a:ext uri="{FF2B5EF4-FFF2-40B4-BE49-F238E27FC236}">
                <a16:creationId xmlns:a16="http://schemas.microsoft.com/office/drawing/2014/main" id="{3BF983B7-9F1E-6B72-176E-2B9F452A2A82}"/>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C430B026-6AB7-2DEC-F277-F20C5896FD83}"/>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165821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484C519-4F3A-B3F8-732C-D6237171DF82}"/>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72BD2BF7-25AF-5140-D54E-E78C35D670C4}"/>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4" name="Alt Bilgi Yer Tutucusu 3">
            <a:extLst>
              <a:ext uri="{FF2B5EF4-FFF2-40B4-BE49-F238E27FC236}">
                <a16:creationId xmlns:a16="http://schemas.microsoft.com/office/drawing/2014/main" id="{CB47C25F-46D6-A2F4-666C-DEB7D30A0C91}"/>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F571E6AA-08F8-83ED-F31C-80FD99614625}"/>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3379196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345C5DFB-41BB-907C-9580-4ECC49E5B6F8}"/>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3" name="Alt Bilgi Yer Tutucusu 2">
            <a:extLst>
              <a:ext uri="{FF2B5EF4-FFF2-40B4-BE49-F238E27FC236}">
                <a16:creationId xmlns:a16="http://schemas.microsoft.com/office/drawing/2014/main" id="{3D0AA70A-BE3C-6EFA-D60F-8C05EF290D2B}"/>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45A9BD29-327F-3430-D1E2-7787910561DA}"/>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3831164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E4A5D4-E6AD-EE91-2A58-6A1CF28BFCE0}"/>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49A1AAD5-3585-445E-79F5-EE82501368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3D471070-71F7-7B33-745D-AA820D295A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FBF573E9-7B57-8B52-4BD7-49C57A588A5E}"/>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6" name="Alt Bilgi Yer Tutucusu 5">
            <a:extLst>
              <a:ext uri="{FF2B5EF4-FFF2-40B4-BE49-F238E27FC236}">
                <a16:creationId xmlns:a16="http://schemas.microsoft.com/office/drawing/2014/main" id="{832D1EB3-288B-CC79-C035-B06794BCDF52}"/>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B01FB6AB-7F43-9746-8503-B0A09560909C}"/>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3846569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57DB875-8304-67E2-E5E8-9337DB6A964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EE908C99-00A1-6CC1-1586-375F00085E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2F102826-0390-78EE-82E3-D96B8C49FC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16ED45AA-4707-1B7F-6C20-76942DAD70B5}"/>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6" name="Alt Bilgi Yer Tutucusu 5">
            <a:extLst>
              <a:ext uri="{FF2B5EF4-FFF2-40B4-BE49-F238E27FC236}">
                <a16:creationId xmlns:a16="http://schemas.microsoft.com/office/drawing/2014/main" id="{A53B2207-13B3-FF59-1045-8621D34E0191}"/>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9E3F03C2-97FB-A844-A473-85D278AF3CD8}"/>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2394625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603AEC5-5D9A-D71C-0990-40F18263E423}"/>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1A30D66F-8F81-3FD6-0324-B1DF6D807069}"/>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9FA06665-DABD-D354-9ECF-9F813060ADF1}"/>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F1316ED0-D097-4C40-ABA3-E5464F8B2D00}"/>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620156E-800B-6F53-4F96-32E55D3E9AAB}"/>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994568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56C3B738-3F35-350A-5D23-6A3E545EE51A}"/>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C59268DB-A623-2138-5773-97D4D4E8C112}"/>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EA42BDED-0337-7901-2C17-A00F8344E5FD}"/>
              </a:ext>
            </a:extLst>
          </p:cNvPr>
          <p:cNvSpPr>
            <a:spLocks noGrp="1"/>
          </p:cNvSpPr>
          <p:nvPr>
            <p:ph type="dt" sz="half" idx="10"/>
          </p:nvPr>
        </p:nvSpPr>
        <p:spPr/>
        <p:txBody>
          <a:body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A26A07D9-F942-5533-8595-EC0B8EBC4D23}"/>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24BA6EC6-D98C-7C76-F63B-876368476309}"/>
              </a:ext>
            </a:extLst>
          </p:cNvPr>
          <p:cNvSpPr>
            <a:spLocks noGrp="1"/>
          </p:cNvSpPr>
          <p:nvPr>
            <p:ph type="sldNum" sz="quarter" idx="12"/>
          </p:nvPr>
        </p:nvSpPr>
        <p:spPr/>
        <p:txBody>
          <a:bodyPr/>
          <a:lstStyle/>
          <a:p>
            <a:fld id="{A84D4DCB-3A80-4C53-BCF2-00CB79394155}" type="slidenum">
              <a:rPr lang="tr-TR" smtClean="0"/>
              <a:t>‹#›</a:t>
            </a:fld>
            <a:endParaRPr lang="tr-TR"/>
          </a:p>
        </p:txBody>
      </p:sp>
    </p:spTree>
    <p:extLst>
      <p:ext uri="{BB962C8B-B14F-4D97-AF65-F5344CB8AC3E}">
        <p14:creationId xmlns:p14="http://schemas.microsoft.com/office/powerpoint/2010/main" val="348769016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7C614B1-E624-7CD0-E63B-A3FA15F078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3CEE1EBE-15F3-CC4D-E412-089721F0E6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9DE1E2B-CCAD-0DD5-9864-86ACAC029C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5EFBC9-785F-44AE-920F-AF9711AA82D2}" type="datetimeFigureOut">
              <a:rPr lang="tr-TR" smtClean="0"/>
              <a:t>19.12.2025</a:t>
            </a:fld>
            <a:endParaRPr lang="tr-TR"/>
          </a:p>
        </p:txBody>
      </p:sp>
      <p:sp>
        <p:nvSpPr>
          <p:cNvPr id="5" name="Alt Bilgi Yer Tutucusu 4">
            <a:extLst>
              <a:ext uri="{FF2B5EF4-FFF2-40B4-BE49-F238E27FC236}">
                <a16:creationId xmlns:a16="http://schemas.microsoft.com/office/drawing/2014/main" id="{62E522BF-91A0-644A-A527-F6107E1299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823D6FE6-5F3A-6966-D88A-D70FA58F179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4D4DCB-3A80-4C53-BCF2-00CB79394155}" type="slidenum">
              <a:rPr lang="tr-TR" smtClean="0"/>
              <a:t>‹#›</a:t>
            </a:fld>
            <a:endParaRPr lang="tr-TR"/>
          </a:p>
        </p:txBody>
      </p:sp>
    </p:spTree>
    <p:extLst>
      <p:ext uri="{BB962C8B-B14F-4D97-AF65-F5344CB8AC3E}">
        <p14:creationId xmlns:p14="http://schemas.microsoft.com/office/powerpoint/2010/main" val="29131746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pct5">
          <a:fgClr>
            <a:srgbClr val="00B0F0"/>
          </a:fgClr>
          <a:bgClr>
            <a:schemeClr val="bg1"/>
          </a:bgClr>
        </a:pattFill>
        <a:effectLst/>
      </p:bgPr>
    </p:bg>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7ED5AC6-ED53-0289-C30D-8F98BA0B2011}"/>
              </a:ext>
            </a:extLst>
          </p:cNvPr>
          <p:cNvSpPr>
            <a:spLocks noGrp="1"/>
          </p:cNvSpPr>
          <p:nvPr>
            <p:ph type="ctrTitle"/>
          </p:nvPr>
        </p:nvSpPr>
        <p:spPr>
          <a:xfrm>
            <a:off x="1524000" y="1041400"/>
            <a:ext cx="9144000" cy="2387600"/>
          </a:xfrm>
        </p:spPr>
        <p:txBody>
          <a:bodyPr/>
          <a:lstStyle/>
          <a:p>
            <a:pPr>
              <a:lnSpc>
                <a:spcPct val="100000"/>
              </a:lnSpc>
            </a:pPr>
            <a:r>
              <a:rPr lang="tr-TR" dirty="0">
                <a:latin typeface="Times New Roman" panose="02020603050405020304" pitchFamily="18" charset="0"/>
                <a:cs typeface="Times New Roman" panose="02020603050405020304" pitchFamily="18" charset="0"/>
              </a:rPr>
              <a:t>Karavana</a:t>
            </a:r>
          </a:p>
        </p:txBody>
      </p:sp>
      <p:sp>
        <p:nvSpPr>
          <p:cNvPr id="3" name="Alt Başlık 2">
            <a:extLst>
              <a:ext uri="{FF2B5EF4-FFF2-40B4-BE49-F238E27FC236}">
                <a16:creationId xmlns:a16="http://schemas.microsoft.com/office/drawing/2014/main" id="{CC564396-A96D-2DE4-AC10-951A7A9538DB}"/>
              </a:ext>
            </a:extLst>
          </p:cNvPr>
          <p:cNvSpPr>
            <a:spLocks noGrp="1"/>
          </p:cNvSpPr>
          <p:nvPr>
            <p:ph type="subTitle" idx="1"/>
          </p:nvPr>
        </p:nvSpPr>
        <p:spPr>
          <a:xfrm>
            <a:off x="1524000" y="4079876"/>
            <a:ext cx="9144000" cy="2387600"/>
          </a:xfrm>
        </p:spPr>
        <p:txBody>
          <a:bodyPr>
            <a:normAutofit fontScale="92500" lnSpcReduction="20000"/>
          </a:bodyPr>
          <a:lstStyle/>
          <a:p>
            <a:pPr>
              <a:lnSpc>
                <a:spcPct val="120000"/>
              </a:lnSpc>
            </a:pPr>
            <a:r>
              <a:rPr lang="tr-TR" dirty="0">
                <a:latin typeface="Times New Roman" panose="02020603050405020304" pitchFamily="18" charset="0"/>
                <a:cs typeface="Times New Roman" panose="02020603050405020304" pitchFamily="18" charset="0"/>
              </a:rPr>
              <a:t>Kutu Oyunu Kafe İşletme Sistemi</a:t>
            </a:r>
          </a:p>
          <a:p>
            <a:pPr>
              <a:lnSpc>
                <a:spcPct val="120000"/>
              </a:lnSpc>
            </a:pPr>
            <a:r>
              <a:rPr lang="tr-TR" dirty="0">
                <a:latin typeface="Times New Roman" panose="02020603050405020304" pitchFamily="18" charset="0"/>
                <a:cs typeface="Times New Roman" panose="02020603050405020304" pitchFamily="18" charset="0"/>
              </a:rPr>
              <a:t>Veritabanı Dersi Dönem Projesi</a:t>
            </a:r>
            <a:endParaRPr lang="tr-TR" dirty="0">
              <a:latin typeface="Times New Roman" panose="02020603050405020304" pitchFamily="18" charset="0"/>
              <a:cs typeface="Times New Roman" panose="02020603050405020304" pitchFamily="18" charset="0"/>
            </a:endParaRPr>
          </a:p>
          <a:p>
            <a:pPr>
              <a:lnSpc>
                <a:spcPct val="120000"/>
              </a:lnSpc>
            </a:pPr>
            <a:r>
              <a:rPr lang="tr-TR" dirty="0">
                <a:latin typeface="Times New Roman" panose="02020603050405020304" pitchFamily="18" charset="0"/>
                <a:cs typeface="Times New Roman" panose="02020603050405020304" pitchFamily="18" charset="0"/>
              </a:rPr>
              <a:t>Enes Öztürk, Emre Alma</a:t>
            </a:r>
          </a:p>
          <a:p>
            <a:pPr>
              <a:lnSpc>
                <a:spcPct val="120000"/>
              </a:lnSpc>
            </a:pPr>
            <a:r>
              <a:rPr lang="tr-TR" dirty="0">
                <a:latin typeface="Times New Roman" panose="02020603050405020304" pitchFamily="18" charset="0"/>
                <a:cs typeface="Times New Roman" panose="02020603050405020304" pitchFamily="18" charset="0"/>
              </a:rPr>
              <a:t>Hasan Ferdi Turgutlu Teknoloji Fakültesi</a:t>
            </a:r>
          </a:p>
          <a:p>
            <a:pPr>
              <a:lnSpc>
                <a:spcPct val="120000"/>
              </a:lnSpc>
            </a:pPr>
            <a:r>
              <a:rPr lang="tr-TR" dirty="0">
                <a:latin typeface="Times New Roman" panose="02020603050405020304" pitchFamily="18" charset="0"/>
                <a:cs typeface="Times New Roman" panose="02020603050405020304" pitchFamily="18" charset="0"/>
              </a:rPr>
              <a:t>Aralık 2026</a:t>
            </a:r>
          </a:p>
        </p:txBody>
      </p:sp>
      <p:pic>
        <p:nvPicPr>
          <p:cNvPr id="5" name="Resim 4">
            <a:extLst>
              <a:ext uri="{FF2B5EF4-FFF2-40B4-BE49-F238E27FC236}">
                <a16:creationId xmlns:a16="http://schemas.microsoft.com/office/drawing/2014/main" id="{F41E5392-C008-ECD9-8AF3-8751CF708A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34132" y="213519"/>
            <a:ext cx="2123736" cy="1655762"/>
          </a:xfrm>
          <a:prstGeom prst="rect">
            <a:avLst/>
          </a:prstGeom>
        </p:spPr>
      </p:pic>
    </p:spTree>
    <p:extLst>
      <p:ext uri="{BB962C8B-B14F-4D97-AF65-F5344CB8AC3E}">
        <p14:creationId xmlns:p14="http://schemas.microsoft.com/office/powerpoint/2010/main" val="3673474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5CE93B-40B6-CC3D-5BF5-4ECB9EEC0B0F}"/>
              </a:ext>
            </a:extLst>
          </p:cNvPr>
          <p:cNvSpPr>
            <a:spLocks noGrp="1"/>
          </p:cNvSpPr>
          <p:nvPr>
            <p:ph type="title"/>
          </p:nvPr>
        </p:nvSpPr>
        <p:spPr/>
        <p:txBody>
          <a:bodyPr/>
          <a:lstStyle/>
          <a:p>
            <a:r>
              <a:rPr lang="tr-TR" dirty="0"/>
              <a:t>Kaynakça</a:t>
            </a:r>
          </a:p>
        </p:txBody>
      </p:sp>
      <p:sp>
        <p:nvSpPr>
          <p:cNvPr id="3" name="İçerik Yer Tutucusu 2">
            <a:extLst>
              <a:ext uri="{FF2B5EF4-FFF2-40B4-BE49-F238E27FC236}">
                <a16:creationId xmlns:a16="http://schemas.microsoft.com/office/drawing/2014/main" id="{95B82483-4CC6-3E00-4637-9A8ED5FD6273}"/>
              </a:ext>
            </a:extLst>
          </p:cNvPr>
          <p:cNvSpPr>
            <a:spLocks noGrp="1"/>
          </p:cNvSpPr>
          <p:nvPr>
            <p:ph idx="1"/>
          </p:nvPr>
        </p:nvSpPr>
        <p:spPr/>
        <p:txBody>
          <a:bodyPr/>
          <a:lstStyle/>
          <a:p>
            <a:pPr marL="0" indent="0">
              <a:buNone/>
            </a:pPr>
            <a:r>
              <a:rPr lang="tr-TR" dirty="0"/>
              <a:t>[1]	https://github.com/emrealmaa/db-fatihi</a:t>
            </a:r>
          </a:p>
          <a:p>
            <a:pPr marL="0" indent="0">
              <a:buNone/>
            </a:pPr>
            <a:r>
              <a:rPr lang="tr-TR" dirty="0"/>
              <a:t>[2]	PostgreSQL 18 Belgeleri: postgresql.org/docs/18</a:t>
            </a:r>
          </a:p>
          <a:p>
            <a:pPr marL="0" indent="0">
              <a:buNone/>
            </a:pPr>
            <a:r>
              <a:rPr lang="tr-TR" dirty="0"/>
              <a:t>[3]	PGlite: https://pglite.dev/</a:t>
            </a:r>
          </a:p>
          <a:p>
            <a:pPr marL="0" indent="0">
              <a:buNone/>
            </a:pPr>
            <a:r>
              <a:rPr lang="tr-TR" dirty="0"/>
              <a:t>[4]	React: https://react.dev/</a:t>
            </a:r>
          </a:p>
          <a:p>
            <a:pPr marL="0" indent="0">
              <a:buNone/>
            </a:pPr>
            <a:r>
              <a:rPr lang="tr-TR" dirty="0"/>
              <a:t>[5]	Express: https://expressjs.com/</a:t>
            </a:r>
          </a:p>
        </p:txBody>
      </p:sp>
    </p:spTree>
    <p:extLst>
      <p:ext uri="{BB962C8B-B14F-4D97-AF65-F5344CB8AC3E}">
        <p14:creationId xmlns:p14="http://schemas.microsoft.com/office/powerpoint/2010/main" val="1629809708"/>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Problem ve çözüm</a:t>
            </a:r>
          </a:p>
        </p:txBody>
      </p:sp>
      <p:sp>
        <p:nvSpPr>
          <p:cNvPr id="3" name="Problem ve çözüm metni"/>
          <p:cNvSpPr txBox="1"/>
          <p:nvPr/>
        </p:nvSpPr>
        <p:spPr>
          <a:xfrm>
            <a:off x="841248" y="1463040"/>
            <a:ext cx="4206240" cy="4754880"/>
          </a:xfrm>
          <a:prstGeom prst="rect">
            <a:avLst/>
          </a:prstGeom>
          <a:noFill/>
        </p:spPr>
        <p:txBody>
          <a:bodyPr wrap="square" anchor="t" lIns="45720" rIns="45720">
            <a:spAutoFit/>
          </a:bodyPr>
          <a:lstStyle/>
          <a:p>
            <a:pPr algn="l" marL="274320" indent="-274320">
              <a:spcAft>
                <a:spcPts val="1200"/>
              </a:spcAft>
              <a:buChar char="•"/>
            </a:pPr>
            <a:r>
              <a:rPr sz="2000" b="1" i="0">
                <a:solidFill>
                  <a:srgbClr val="156082"/>
                </a:solidFill>
                <a:latin typeface="Times New Roman"/>
              </a:rPr>
              <a:t>Problem: </a:t>
            </a:r>
            <a:r>
              <a:rPr sz="2000" b="0" i="0">
                <a:solidFill>
                  <a:srgbClr val="0E2841"/>
                </a:solidFill>
                <a:latin typeface="Times New Roman"/>
              </a:rPr>
              <a:t>oyun kopyaları sınırlı, sıra kâğıtla ve akılla tutuluyor</a:t>
            </a:r>
          </a:p>
          <a:p>
            <a:pPr algn="l" marL="274320" indent="-274320">
              <a:spcAft>
                <a:spcPts val="1200"/>
              </a:spcAft>
              <a:buChar char="•"/>
            </a:pPr>
            <a:r>
              <a:rPr sz="2000" b="1" i="0">
                <a:solidFill>
                  <a:srgbClr val="156082"/>
                </a:solidFill>
                <a:latin typeface="Times New Roman"/>
              </a:rPr>
              <a:t>Problem: </a:t>
            </a:r>
            <a:r>
              <a:rPr sz="2000" b="0" i="0">
                <a:solidFill>
                  <a:srgbClr val="0E2841"/>
                </a:solidFill>
                <a:latin typeface="Times New Roman"/>
              </a:rPr>
              <a:t>hesap, stok ve personel takibi dağınık</a:t>
            </a:r>
          </a:p>
          <a:p>
            <a:pPr algn="l" marL="274320" indent="-274320">
              <a:spcAft>
                <a:spcPts val="1200"/>
              </a:spcAft>
              <a:buChar char="•"/>
            </a:pPr>
            <a:r>
              <a:rPr sz="2000" b="1" i="0">
                <a:solidFill>
                  <a:srgbClr val="E97132"/>
                </a:solidFill>
                <a:latin typeface="Times New Roman"/>
              </a:rPr>
              <a:t>Çözüm: </a:t>
            </a:r>
            <a:r>
              <a:rPr sz="2000" b="0" i="0">
                <a:solidFill>
                  <a:srgbClr val="0E2841"/>
                </a:solidFill>
                <a:latin typeface="Times New Roman"/>
              </a:rPr>
              <a:t>masa panosu, adil bekleme sırası, sipariş ve stok, nakit/kart hesap, raporlar</a:t>
            </a:r>
          </a:p>
          <a:p>
            <a:pPr algn="l" marL="274320" indent="-274320">
              <a:spcAft>
                <a:spcPts val="1200"/>
              </a:spcAft>
              <a:buChar char="•"/>
            </a:pPr>
            <a:r>
              <a:rPr sz="2000" b="1" i="0">
                <a:solidFill>
                  <a:srgbClr val="E97132"/>
                </a:solidFill>
                <a:latin typeface="Times New Roman"/>
              </a:rPr>
              <a:t>Çözüm: </a:t>
            </a:r>
            <a:r>
              <a:rPr sz="2000" b="0" i="0">
                <a:solidFill>
                  <a:srgbClr val="0E2841"/>
                </a:solidFill>
                <a:latin typeface="Times New Roman"/>
              </a:rPr>
              <a:t>kurallar veritabanında; API ince, her işlem personelin rolüyle çalışır</a:t>
            </a:r>
          </a:p>
        </p:txBody>
      </p:sp>
      <p:pic>
        <p:nvPicPr>
          <p:cNvPr id="4" name="Masa panosu" descr="Masa panosu.jpg"/>
          <p:cNvPicPr>
            <a:picLocks noChangeAspect="1"/>
          </p:cNvPicPr>
          <p:nvPr/>
        </p:nvPicPr>
        <p:blipFill>
          <a:blip r:embed="rId3"/>
          <a:stretch>
            <a:fillRect/>
          </a:stretch>
        </p:blipFill>
        <p:spPr>
          <a:xfrm>
            <a:off x="5349240" y="1463040"/>
            <a:ext cx="6035040" cy="4162945"/>
          </a:xfrm>
          <a:prstGeom prst="rect">
            <a:avLst/>
          </a:prstGeom>
          <a:ln w="9525">
            <a:solidFill>
              <a:srgbClr val="BFBFBF"/>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Mimari: iş kuralları veritabanında</a:t>
            </a:r>
          </a:p>
        </p:txBody>
      </p:sp>
      <p:sp>
        <p:nvSpPr>
          <p:cNvPr id="3" name="Katman 1"/>
          <p:cNvSpPr/>
          <p:nvPr/>
        </p:nvSpPr>
        <p:spPr>
          <a:xfrm>
            <a:off x="841248" y="1554480"/>
            <a:ext cx="2926080" cy="13716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0E2841"/>
                </a:solidFill>
                <a:latin typeface="Times New Roman"/>
              </a:rPr>
              <a:t>Ön yüz</a:t>
            </a:r>
          </a:p>
          <a:p>
            <a:pPr algn="ctr" marL="274320" indent="-274320">
              <a:spcAft>
                <a:spcPts val="200"/>
              </a:spcAft>
              <a:buNone/>
            </a:pPr>
            <a:r>
              <a:rPr sz="1800" b="0" i="0">
                <a:solidFill>
                  <a:srgbClr val="0E2841"/>
                </a:solidFill>
                <a:latin typeface="Times New Roman"/>
              </a:rPr>
              <a:t>React + Vite</a:t>
            </a:r>
          </a:p>
        </p:txBody>
      </p:sp>
      <p:sp>
        <p:nvSpPr>
          <p:cNvPr id="4" name="Ok 1"/>
          <p:cNvSpPr/>
          <p:nvPr/>
        </p:nvSpPr>
        <p:spPr>
          <a:xfrm>
            <a:off x="3840480" y="2011680"/>
            <a:ext cx="731520" cy="45720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Katman 2"/>
          <p:cNvSpPr/>
          <p:nvPr/>
        </p:nvSpPr>
        <p:spPr>
          <a:xfrm>
            <a:off x="4636008" y="1554480"/>
            <a:ext cx="2926080" cy="13716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0E2841"/>
                </a:solidFill>
                <a:latin typeface="Times New Roman"/>
              </a:rPr>
              <a:t>API</a:t>
            </a:r>
          </a:p>
          <a:p>
            <a:pPr algn="ctr" marL="274320" indent="-274320">
              <a:spcAft>
                <a:spcPts val="200"/>
              </a:spcAft>
              <a:buNone/>
            </a:pPr>
            <a:r>
              <a:rPr sz="1800" b="0" i="0">
                <a:solidFill>
                  <a:srgbClr val="0E2841"/>
                </a:solidFill>
                <a:latin typeface="Times New Roman"/>
              </a:rPr>
              <a:t>Node.js + Express · JWT</a:t>
            </a:r>
          </a:p>
        </p:txBody>
      </p:sp>
      <p:sp>
        <p:nvSpPr>
          <p:cNvPr id="6" name="Ok 2"/>
          <p:cNvSpPr/>
          <p:nvPr/>
        </p:nvSpPr>
        <p:spPr>
          <a:xfrm>
            <a:off x="7635240" y="2011680"/>
            <a:ext cx="731520" cy="457200"/>
          </a:xfrm>
          <a:prstGeom prst="rightArrow">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Katman 3"/>
          <p:cNvSpPr/>
          <p:nvPr/>
        </p:nvSpPr>
        <p:spPr>
          <a:xfrm>
            <a:off x="8430768" y="1554480"/>
            <a:ext cx="2926080" cy="137160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Veritabanı</a:t>
            </a:r>
          </a:p>
          <a:p>
            <a:pPr algn="ctr" marL="274320" indent="-274320">
              <a:spcAft>
                <a:spcPts val="200"/>
              </a:spcAft>
              <a:buNone/>
            </a:pPr>
            <a:r>
              <a:rPr sz="1800" b="0" i="0">
                <a:solidFill>
                  <a:srgbClr val="FFFFFF"/>
                </a:solidFill>
                <a:latin typeface="Times New Roman"/>
              </a:rPr>
              <a:t>PostgreSQL 18</a:t>
            </a:r>
          </a:p>
        </p:txBody>
      </p:sp>
      <p:sp>
        <p:nvSpPr>
          <p:cNvPr id="8" name="Rol açıklaması"/>
          <p:cNvSpPr txBox="1"/>
          <p:nvPr/>
        </p:nvSpPr>
        <p:spPr>
          <a:xfrm>
            <a:off x="841248" y="3154680"/>
            <a:ext cx="10515600" cy="411480"/>
          </a:xfrm>
          <a:prstGeom prst="rect">
            <a:avLst/>
          </a:prstGeom>
          <a:noFill/>
        </p:spPr>
        <p:txBody>
          <a:bodyPr wrap="square" anchor="t" lIns="45720" rIns="45720">
            <a:spAutoFit/>
          </a:bodyPr>
          <a:lstStyle/>
          <a:p>
            <a:pPr algn="l" marL="274320" indent="-274320">
              <a:spcAft>
                <a:spcPts val="800"/>
              </a:spcAft>
              <a:buNone/>
            </a:pPr>
            <a:r>
              <a:rPr sz="1800" b="0" i="0">
                <a:solidFill>
                  <a:srgbClr val="595959"/>
                </a:solidFill>
                <a:latin typeface="Times New Roman"/>
              </a:rPr>
              <a:t>API, personelin rolüne karşılık gelen veritabanı rolüyle bağlanır:</a:t>
            </a:r>
          </a:p>
        </p:txBody>
      </p:sp>
      <p:sp>
        <p:nvSpPr>
          <p:cNvPr id="9" name="Rol giris_app"/>
          <p:cNvSpPr/>
          <p:nvPr/>
        </p:nvSpPr>
        <p:spPr>
          <a:xfrm>
            <a:off x="841248" y="3611880"/>
            <a:ext cx="2377440" cy="548640"/>
          </a:xfrm>
          <a:prstGeom prst="roundRect">
            <a:avLst>
              <a:gd name="adj" fmla="val 30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800" b="1" i="0">
                <a:solidFill>
                  <a:srgbClr val="0E2841"/>
                </a:solidFill>
                <a:latin typeface="Times New Roman"/>
              </a:rPr>
              <a:t>giris_app</a:t>
            </a:r>
          </a:p>
        </p:txBody>
      </p:sp>
      <p:sp>
        <p:nvSpPr>
          <p:cNvPr id="10" name="Rol garson_app"/>
          <p:cNvSpPr/>
          <p:nvPr/>
        </p:nvSpPr>
        <p:spPr>
          <a:xfrm>
            <a:off x="3557016" y="3611880"/>
            <a:ext cx="2377440" cy="548640"/>
          </a:xfrm>
          <a:prstGeom prst="roundRect">
            <a:avLst>
              <a:gd name="adj" fmla="val 30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800" b="1" i="0">
                <a:solidFill>
                  <a:srgbClr val="0E2841"/>
                </a:solidFill>
                <a:latin typeface="Times New Roman"/>
              </a:rPr>
              <a:t>garson_app</a:t>
            </a:r>
          </a:p>
        </p:txBody>
      </p:sp>
      <p:sp>
        <p:nvSpPr>
          <p:cNvPr id="11" name="Rol kasiyer_app"/>
          <p:cNvSpPr/>
          <p:nvPr/>
        </p:nvSpPr>
        <p:spPr>
          <a:xfrm>
            <a:off x="6272784" y="3611880"/>
            <a:ext cx="2377440" cy="548640"/>
          </a:xfrm>
          <a:prstGeom prst="roundRect">
            <a:avLst>
              <a:gd name="adj" fmla="val 30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800" b="1" i="0">
                <a:solidFill>
                  <a:srgbClr val="0E2841"/>
                </a:solidFill>
                <a:latin typeface="Times New Roman"/>
              </a:rPr>
              <a:t>kasiyer_app</a:t>
            </a:r>
          </a:p>
        </p:txBody>
      </p:sp>
      <p:sp>
        <p:nvSpPr>
          <p:cNvPr id="12" name="Rol yonetici_app"/>
          <p:cNvSpPr/>
          <p:nvPr/>
        </p:nvSpPr>
        <p:spPr>
          <a:xfrm>
            <a:off x="8988552" y="3611880"/>
            <a:ext cx="2377440" cy="548640"/>
          </a:xfrm>
          <a:prstGeom prst="roundRect">
            <a:avLst>
              <a:gd name="adj" fmla="val 30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800" b="1" i="0">
                <a:solidFill>
                  <a:srgbClr val="0E2841"/>
                </a:solidFill>
                <a:latin typeface="Times New Roman"/>
              </a:rPr>
              <a:t>yonetici_app</a:t>
            </a:r>
          </a:p>
        </p:txBody>
      </p:sp>
      <p:sp>
        <p:nvSpPr>
          <p:cNvPr id="13" name="Mimari maddeleri"/>
          <p:cNvSpPr txBox="1"/>
          <p:nvPr/>
        </p:nvSpPr>
        <p:spPr>
          <a:xfrm>
            <a:off x="841248" y="4434840"/>
            <a:ext cx="10515600" cy="1828800"/>
          </a:xfrm>
          <a:prstGeom prst="rect">
            <a:avLst/>
          </a:prstGeom>
          <a:noFill/>
        </p:spPr>
        <p:txBody>
          <a:bodyPr wrap="square" anchor="t" lIns="45720" rIns="45720">
            <a:spAutoFit/>
          </a:bodyPr>
          <a:lstStyle/>
          <a:p>
            <a:pPr algn="l" marL="274320" indent="-274320">
              <a:spcAft>
                <a:spcPts val="800"/>
              </a:spcAft>
              <a:buChar char="•"/>
            </a:pPr>
            <a:r>
              <a:rPr sz="2000" b="0" i="0">
                <a:solidFill>
                  <a:srgbClr val="0E2841"/>
                </a:solidFill>
                <a:latin typeface="Times New Roman"/>
              </a:rPr>
              <a:t>Kurallar prosedür, tetikleyici ve kısıt olarak veritabanında; API ince kalır</a:t>
            </a:r>
          </a:p>
          <a:p>
            <a:pPr algn="l" marL="274320" indent="-274320">
              <a:spcAft>
                <a:spcPts val="800"/>
              </a:spcAft>
              <a:buChar char="•"/>
            </a:pPr>
            <a:r>
              <a:rPr sz="2000" b="0" i="0">
                <a:solidFill>
                  <a:srgbClr val="0E2841"/>
                </a:solidFill>
                <a:latin typeface="Times New Roman"/>
              </a:rPr>
              <a:t>Uygulama rolleri tablolara doğrudan erişmez: view okur, sp_* prosedürlerini çağırır</a:t>
            </a:r>
          </a:p>
          <a:p>
            <a:pPr algn="l" marL="274320" indent="-274320">
              <a:spcAft>
                <a:spcPts val="800"/>
              </a:spcAft>
              <a:buChar char="•"/>
            </a:pPr>
            <a:r>
              <a:rPr sz="2000" b="0" i="0">
                <a:solidFill>
                  <a:srgbClr val="0E2841"/>
                </a:solidFill>
                <a:latin typeface="Times New Roman"/>
              </a:rPr>
              <a:t>Her transaction başında app.personel_id: işlemi kimin yaptığı kayıtlı</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ER diyagramı: 13 tablo</a:t>
            </a:r>
          </a:p>
        </p:txBody>
      </p:sp>
      <p:sp>
        <p:nvSpPr>
          <p:cNvPr id="3" name="Tablo masa"/>
          <p:cNvSpPr/>
          <p:nvPr/>
        </p:nvSpPr>
        <p:spPr>
          <a:xfrm>
            <a:off x="841248" y="192024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masa</a:t>
            </a:r>
          </a:p>
        </p:txBody>
      </p:sp>
      <p:sp>
        <p:nvSpPr>
          <p:cNvPr id="4" name="Tablo kullanici"/>
          <p:cNvSpPr/>
          <p:nvPr/>
        </p:nvSpPr>
        <p:spPr>
          <a:xfrm>
            <a:off x="841248" y="3063240"/>
            <a:ext cx="1920240" cy="548640"/>
          </a:xfrm>
          <a:prstGeom prst="roundRect">
            <a:avLst>
              <a:gd name="adj" fmla="val 15000"/>
            </a:avLst>
          </a:prstGeom>
          <a:solidFill>
            <a:srgbClr val="E4EFF5"/>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kullanici</a:t>
            </a:r>
          </a:p>
        </p:txBody>
      </p:sp>
      <p:sp>
        <p:nvSpPr>
          <p:cNvPr id="5" name="Tablo personel"/>
          <p:cNvSpPr/>
          <p:nvPr/>
        </p:nvSpPr>
        <p:spPr>
          <a:xfrm>
            <a:off x="841248" y="420624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personel</a:t>
            </a:r>
          </a:p>
        </p:txBody>
      </p:sp>
      <p:sp>
        <p:nvSpPr>
          <p:cNvPr id="6" name="Tablo ayar"/>
          <p:cNvSpPr/>
          <p:nvPr/>
        </p:nvSpPr>
        <p:spPr>
          <a:xfrm>
            <a:off x="841248" y="5212080"/>
            <a:ext cx="1920240" cy="548640"/>
          </a:xfrm>
          <a:prstGeom prst="roundRect">
            <a:avLst>
              <a:gd name="adj" fmla="val 15000"/>
            </a:avLst>
          </a:prstGeom>
          <a:solidFill>
            <a:srgbClr val="E4EFF5"/>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ayar</a:t>
            </a:r>
          </a:p>
        </p:txBody>
      </p:sp>
      <p:sp>
        <p:nvSpPr>
          <p:cNvPr id="7" name="Tablo oturum"/>
          <p:cNvSpPr/>
          <p:nvPr/>
        </p:nvSpPr>
        <p:spPr>
          <a:xfrm>
            <a:off x="3886200" y="3063240"/>
            <a:ext cx="2103120" cy="640080"/>
          </a:xfrm>
          <a:prstGeom prst="roundRect">
            <a:avLst>
              <a:gd name="adj" fmla="val 15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FFFFFF"/>
                </a:solidFill>
                <a:latin typeface="Times New Roman"/>
              </a:rPr>
              <a:t>oturum</a:t>
            </a:r>
          </a:p>
        </p:txBody>
      </p:sp>
      <p:sp>
        <p:nvSpPr>
          <p:cNvPr id="8" name="Tablo oturum_oyun"/>
          <p:cNvSpPr/>
          <p:nvPr/>
        </p:nvSpPr>
        <p:spPr>
          <a:xfrm>
            <a:off x="6949440" y="192024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oturum_oyun</a:t>
            </a:r>
          </a:p>
        </p:txBody>
      </p:sp>
      <p:sp>
        <p:nvSpPr>
          <p:cNvPr id="9" name="Tablo bekleme"/>
          <p:cNvSpPr/>
          <p:nvPr/>
        </p:nvSpPr>
        <p:spPr>
          <a:xfrm>
            <a:off x="6949440" y="283464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bekleme</a:t>
            </a:r>
          </a:p>
        </p:txBody>
      </p:sp>
      <p:sp>
        <p:nvSpPr>
          <p:cNvPr id="10" name="Tablo siparis"/>
          <p:cNvSpPr/>
          <p:nvPr/>
        </p:nvSpPr>
        <p:spPr>
          <a:xfrm>
            <a:off x="6949440" y="3749039"/>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siparis</a:t>
            </a:r>
          </a:p>
        </p:txBody>
      </p:sp>
      <p:sp>
        <p:nvSpPr>
          <p:cNvPr id="11" name="Tablo odeme"/>
          <p:cNvSpPr/>
          <p:nvPr/>
        </p:nvSpPr>
        <p:spPr>
          <a:xfrm>
            <a:off x="6949440" y="466344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odeme</a:t>
            </a:r>
          </a:p>
        </p:txBody>
      </p:sp>
      <p:sp>
        <p:nvSpPr>
          <p:cNvPr id="12" name="Tablo kategori"/>
          <p:cNvSpPr/>
          <p:nvPr/>
        </p:nvSpPr>
        <p:spPr>
          <a:xfrm>
            <a:off x="9418320" y="1417320"/>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kategori</a:t>
            </a:r>
          </a:p>
        </p:txBody>
      </p:sp>
      <p:sp>
        <p:nvSpPr>
          <p:cNvPr id="13" name="Tablo oyun"/>
          <p:cNvSpPr/>
          <p:nvPr/>
        </p:nvSpPr>
        <p:spPr>
          <a:xfrm>
            <a:off x="9418320" y="2377440"/>
            <a:ext cx="1920240" cy="548640"/>
          </a:xfrm>
          <a:prstGeom prst="roundRect">
            <a:avLst>
              <a:gd name="adj" fmla="val 15000"/>
            </a:avLst>
          </a:prstGeom>
          <a:solidFill>
            <a:srgbClr val="E4EFF5"/>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oyun</a:t>
            </a:r>
          </a:p>
        </p:txBody>
      </p:sp>
      <p:sp>
        <p:nvSpPr>
          <p:cNvPr id="14" name="Tablo urun"/>
          <p:cNvSpPr/>
          <p:nvPr/>
        </p:nvSpPr>
        <p:spPr>
          <a:xfrm>
            <a:off x="9418320" y="3749039"/>
            <a:ext cx="1920240" cy="548640"/>
          </a:xfrm>
          <a:prstGeom prst="roundRect">
            <a:avLst>
              <a:gd name="adj" fmla="val 15000"/>
            </a:avLst>
          </a:prstGeom>
          <a:solidFill>
            <a:srgbClr val="E4EFF5"/>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urun</a:t>
            </a:r>
          </a:p>
        </p:txBody>
      </p:sp>
      <p:sp>
        <p:nvSpPr>
          <p:cNvPr id="15" name="Tablo urun_kategori"/>
          <p:cNvSpPr/>
          <p:nvPr/>
        </p:nvSpPr>
        <p:spPr>
          <a:xfrm>
            <a:off x="9418320" y="4663440"/>
            <a:ext cx="1920240" cy="548640"/>
          </a:xfrm>
          <a:prstGeom prst="roundRect">
            <a:avLst>
              <a:gd name="adj" fmla="val 15000"/>
            </a:avLst>
          </a:prstGeom>
          <a:solidFill>
            <a:srgbClr val="E4EFF5"/>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1600" b="1" i="0">
                <a:solidFill>
                  <a:srgbClr val="0E2841"/>
                </a:solidFill>
                <a:latin typeface="Times New Roman"/>
              </a:rPr>
              <a:t>urun_kategori</a:t>
            </a:r>
          </a:p>
        </p:txBody>
      </p:sp>
      <p:cxnSp>
        <p:nvCxnSpPr>
          <p:cNvPr id="16" name="İlişki masa-oturum"/>
          <p:cNvCxnSpPr>
            <a:stCxn id="3" idx="3"/>
            <a:endCxn id="7" idx="1"/>
          </p:cNvCxnSpPr>
          <p:nvPr/>
        </p:nvCxnSpPr>
        <p:spPr>
          <a:xfrm>
            <a:off x="2761488" y="2194560"/>
            <a:ext cx="1124712" cy="118872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7" name="İlişki kullanici-oturum"/>
          <p:cNvCxnSpPr>
            <a:stCxn id="4" idx="3"/>
            <a:endCxn id="7" idx="1"/>
          </p:cNvCxnSpPr>
          <p:nvPr/>
        </p:nvCxnSpPr>
        <p:spPr>
          <a:xfrm>
            <a:off x="2761488" y="3337560"/>
            <a:ext cx="1124712" cy="4572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8" name="İlişki personel-oturum"/>
          <p:cNvCxnSpPr>
            <a:stCxn id="5" idx="3"/>
            <a:endCxn id="7" idx="1"/>
          </p:cNvCxnSpPr>
          <p:nvPr/>
        </p:nvCxnSpPr>
        <p:spPr>
          <a:xfrm flipV="1">
            <a:off x="2761488" y="3383280"/>
            <a:ext cx="1124712" cy="109728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19" name="İlişki oturum-oturum_oyun"/>
          <p:cNvCxnSpPr>
            <a:stCxn id="7" idx="3"/>
            <a:endCxn id="8" idx="1"/>
          </p:cNvCxnSpPr>
          <p:nvPr/>
        </p:nvCxnSpPr>
        <p:spPr>
          <a:xfrm flipV="1">
            <a:off x="5989320" y="2194560"/>
            <a:ext cx="960120" cy="118872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0" name="İlişki oturum-bekleme"/>
          <p:cNvCxnSpPr>
            <a:stCxn id="7" idx="3"/>
            <a:endCxn id="9" idx="1"/>
          </p:cNvCxnSpPr>
          <p:nvPr/>
        </p:nvCxnSpPr>
        <p:spPr>
          <a:xfrm flipV="1">
            <a:off x="5989320" y="3108960"/>
            <a:ext cx="960120" cy="27432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1" name="İlişki oturum-siparis"/>
          <p:cNvCxnSpPr>
            <a:stCxn id="7" idx="3"/>
            <a:endCxn id="10" idx="1"/>
          </p:cNvCxnSpPr>
          <p:nvPr/>
        </p:nvCxnSpPr>
        <p:spPr>
          <a:xfrm>
            <a:off x="5989320" y="3383280"/>
            <a:ext cx="960120" cy="640079"/>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2" name="İlişki oturum-odeme"/>
          <p:cNvCxnSpPr>
            <a:stCxn id="7" idx="3"/>
            <a:endCxn id="11" idx="1"/>
          </p:cNvCxnSpPr>
          <p:nvPr/>
        </p:nvCxnSpPr>
        <p:spPr>
          <a:xfrm>
            <a:off x="5989320" y="3383280"/>
            <a:ext cx="960120" cy="155448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3" name="İlişki oturum_oyun-oyun"/>
          <p:cNvCxnSpPr>
            <a:stCxn id="8" idx="3"/>
            <a:endCxn id="13" idx="1"/>
          </p:cNvCxnSpPr>
          <p:nvPr/>
        </p:nvCxnSpPr>
        <p:spPr>
          <a:xfrm>
            <a:off x="8869680" y="2194560"/>
            <a:ext cx="548640" cy="45720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4" name="İlişki bekleme-oyun"/>
          <p:cNvCxnSpPr>
            <a:stCxn id="9" idx="3"/>
            <a:endCxn id="13" idx="1"/>
          </p:cNvCxnSpPr>
          <p:nvPr/>
        </p:nvCxnSpPr>
        <p:spPr>
          <a:xfrm flipV="1">
            <a:off x="8869680" y="2651760"/>
            <a:ext cx="548640" cy="45720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5" name="İlişki kategori-oyun"/>
          <p:cNvCxnSpPr>
            <a:stCxn id="12" idx="2"/>
            <a:endCxn id="13" idx="0"/>
          </p:cNvCxnSpPr>
          <p:nvPr/>
        </p:nvCxnSpPr>
        <p:spPr>
          <a:xfrm flipH="1">
            <a:off x="10378440" y="1965960"/>
            <a:ext cx="0" cy="41148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6" name="İlişki siparis-urun"/>
          <p:cNvCxnSpPr>
            <a:stCxn id="10" idx="3"/>
            <a:endCxn id="14" idx="1"/>
          </p:cNvCxnSpPr>
          <p:nvPr/>
        </p:nvCxnSpPr>
        <p:spPr>
          <a:xfrm flipV="1">
            <a:off x="8869680" y="4023359"/>
            <a:ext cx="548640" cy="0"/>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cxnSp>
        <p:nvCxnSpPr>
          <p:cNvPr id="27" name="İlişki urun-urun_kategori"/>
          <p:cNvCxnSpPr>
            <a:stCxn id="14" idx="2"/>
            <a:endCxn id="15" idx="0"/>
          </p:cNvCxnSpPr>
          <p:nvPr/>
        </p:nvCxnSpPr>
        <p:spPr>
          <a:xfrm flipH="1">
            <a:off x="10378440" y="4297679"/>
            <a:ext cx="0" cy="365761"/>
          </a:xfrm>
          <a:prstGeom prst="line">
            <a:avLst/>
          </a:prstGeom>
          <a:ln w="22225">
            <a:solidFill>
              <a:srgbClr val="7F7F7F"/>
            </a:solidFill>
          </a:ln>
        </p:spPr>
        <p:style>
          <a:lnRef idx="2">
            <a:schemeClr val="accent1"/>
          </a:lnRef>
          <a:fillRef idx="0">
            <a:schemeClr val="accent1"/>
          </a:fillRef>
          <a:effectRef idx="1">
            <a:schemeClr val="accent1"/>
          </a:effectRef>
          <a:fontRef idx="minor">
            <a:schemeClr val="tx1"/>
          </a:fontRef>
        </p:style>
      </p:cxnSp>
      <p:sp>
        <p:nvSpPr>
          <p:cNvPr id="28" name="ER notları"/>
          <p:cNvSpPr txBox="1"/>
          <p:nvPr/>
        </p:nvSpPr>
        <p:spPr>
          <a:xfrm>
            <a:off x="3108960" y="5074920"/>
            <a:ext cx="3657600" cy="1097280"/>
          </a:xfrm>
          <a:prstGeom prst="rect">
            <a:avLst/>
          </a:prstGeom>
          <a:noFill/>
        </p:spPr>
        <p:txBody>
          <a:bodyPr wrap="square" anchor="t" lIns="45720" rIns="45720">
            <a:spAutoFit/>
          </a:bodyPr>
          <a:lstStyle/>
          <a:p>
            <a:pPr algn="l" marL="274320" indent="-274320">
              <a:spcAft>
                <a:spcPts val="200"/>
              </a:spcAft>
              <a:buNone/>
            </a:pPr>
            <a:r>
              <a:rPr sz="1400" b="0" i="0">
                <a:solidFill>
                  <a:srgbClr val="595959"/>
                </a:solidFill>
                <a:latin typeface="Times New Roman"/>
              </a:rPr>
              <a:t>oturum = hesap birimi</a:t>
            </a:r>
          </a:p>
          <a:p>
            <a:pPr algn="l" marL="274320" indent="-274320">
              <a:spcAft>
                <a:spcPts val="200"/>
              </a:spcAft>
              <a:buNone/>
            </a:pPr>
            <a:r>
              <a:rPr sz="1400" b="0" i="0">
                <a:solidFill>
                  <a:srgbClr val="595959"/>
                </a:solidFill>
                <a:latin typeface="Times New Roman"/>
              </a:rPr>
              <a:t>oturum_oyun ve siparis: N:M köprüleri</a:t>
            </a:r>
          </a:p>
          <a:p>
            <a:pPr algn="l" marL="274320" indent="-274320">
              <a:spcAft>
                <a:spcPts val="200"/>
              </a:spcAft>
              <a:buNone/>
            </a:pPr>
            <a:r>
              <a:rPr sz="1400" b="0" i="0">
                <a:solidFill>
                  <a:srgbClr val="595959"/>
                </a:solidFill>
                <a:latin typeface="Times New Roman"/>
              </a:rPr>
              <a:t>odeme: oturumla 1:1 · ayar: tek satır</a:t>
            </a:r>
          </a:p>
        </p:txBody>
      </p:sp>
      <p:sp>
        <p:nvSpPr>
          <p:cNvPr id="29" name="ER açıklaması"/>
          <p:cNvSpPr txBox="1"/>
          <p:nvPr/>
        </p:nvSpPr>
        <p:spPr>
          <a:xfrm>
            <a:off x="841248" y="5989320"/>
            <a:ext cx="10515600" cy="411480"/>
          </a:xfrm>
          <a:prstGeom prst="rect">
            <a:avLst/>
          </a:prstGeom>
          <a:noFill/>
        </p:spPr>
        <p:txBody>
          <a:bodyPr wrap="square" anchor="t" lIns="45720" rIns="45720">
            <a:spAutoFit/>
          </a:bodyPr>
          <a:lstStyle/>
          <a:p>
            <a:pPr algn="l" marL="274320" indent="-274320">
              <a:spcAft>
                <a:spcPts val="800"/>
              </a:spcAft>
              <a:buNone/>
            </a:pPr>
            <a:r>
              <a:rPr sz="1400" b="1" i="0">
                <a:solidFill>
                  <a:srgbClr val="E97132"/>
                </a:solidFill>
                <a:latin typeface="Times New Roman"/>
              </a:rPr>
              <a:t>Turuncu çerçeve: </a:t>
            </a:r>
            <a:r>
              <a:rPr sz="1400" b="0" i="0">
                <a:solidFill>
                  <a:srgbClr val="595959"/>
                </a:solidFill>
                <a:latin typeface="Times New Roman"/>
              </a:rPr>
              <a:t>VIP Kulüp ile varsayılanlı sütun eklenen tablolar (yeni tablo yok)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Normalizasyon, anahtarlar ve kısıtlar</a:t>
            </a:r>
          </a:p>
        </p:txBody>
      </p:sp>
      <p:sp>
        <p:nvSpPr>
          <p:cNvPr id="3" name="Kart Normalizasyon ve anahtarlar"/>
          <p:cNvSpPr/>
          <p:nvPr/>
        </p:nvSpPr>
        <p:spPr>
          <a:xfrm>
            <a:off x="841248" y="1463040"/>
            <a:ext cx="5029200" cy="42976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şlık Normalizasyon ve anahtarlar"/>
          <p:cNvSpPr txBox="1"/>
          <p:nvPr/>
        </p:nvSpPr>
        <p:spPr>
          <a:xfrm>
            <a:off x="1024128" y="1600200"/>
            <a:ext cx="4663440" cy="548640"/>
          </a:xfrm>
          <a:prstGeom prst="rect">
            <a:avLst/>
          </a:prstGeom>
          <a:noFill/>
        </p:spPr>
        <p:txBody>
          <a:bodyPr wrap="square" anchor="t" lIns="45720" rIns="45720">
            <a:spAutoFit/>
          </a:bodyPr>
          <a:lstStyle/>
          <a:p>
            <a:pPr algn="l" marL="274320" indent="-274320">
              <a:spcAft>
                <a:spcPts val="800"/>
              </a:spcAft>
              <a:buNone/>
            </a:pPr>
            <a:r>
              <a:rPr sz="2400" b="1" i="0">
                <a:solidFill>
                  <a:srgbClr val="156082"/>
                </a:solidFill>
                <a:latin typeface="Times New Roman"/>
              </a:rPr>
              <a:t>Normalizasyon ve anahtarlar</a:t>
            </a:r>
          </a:p>
        </p:txBody>
      </p:sp>
      <p:sp>
        <p:nvSpPr>
          <p:cNvPr id="5" name="Madde Normalizasyon ve anahtarlar"/>
          <p:cNvSpPr txBox="1"/>
          <p:nvPr/>
        </p:nvSpPr>
        <p:spPr>
          <a:xfrm>
            <a:off x="1024128" y="2286000"/>
            <a:ext cx="4663440" cy="3383280"/>
          </a:xfrm>
          <a:prstGeom prst="rect">
            <a:avLst/>
          </a:prstGeom>
          <a:noFill/>
        </p:spPr>
        <p:txBody>
          <a:bodyPr wrap="square" anchor="t" lIns="45720" rIns="45720">
            <a:spAutoFit/>
          </a:bodyPr>
          <a:lstStyle/>
          <a:p>
            <a:pPr algn="l" marL="274320" indent="-274320">
              <a:spcAft>
                <a:spcPts val="1800"/>
              </a:spcAft>
              <a:buChar char="•"/>
            </a:pPr>
            <a:r>
              <a:rPr sz="2200" b="0" i="0">
                <a:solidFill>
                  <a:srgbClr val="0E2841"/>
                </a:solidFill>
                <a:latin typeface="Times New Roman"/>
              </a:rPr>
              <a:t>3NF; identity birincil anahtar, doğal anahtarlara UNIQUE (telefon, e-posta, kullanıcı adı, masa_no)</a:t>
            </a:r>
          </a:p>
          <a:p>
            <a:pPr algn="l" marL="274320" indent="-274320">
              <a:spcAft>
                <a:spcPts val="1800"/>
              </a:spcAft>
              <a:buChar char="•"/>
            </a:pPr>
            <a:r>
              <a:rPr sz="2200" b="0" i="0">
                <a:solidFill>
                  <a:srgbClr val="0E2841"/>
                </a:solidFill>
                <a:latin typeface="Times New Roman"/>
              </a:rPr>
              <a:t>Türetilmiş değer saklanmaz: müsait adet, hesap toplamı</a:t>
            </a:r>
          </a:p>
          <a:p>
            <a:pPr algn="l" marL="274320" indent="-274320">
              <a:spcAft>
                <a:spcPts val="1800"/>
              </a:spcAft>
              <a:buChar char="•"/>
            </a:pPr>
            <a:r>
              <a:rPr sz="2200" b="0" i="0">
                <a:solidFill>
                  <a:srgbClr val="0E2841"/>
                </a:solidFill>
                <a:latin typeface="Times New Roman"/>
              </a:rPr>
              <a:t>Bilinçli anlık görüntü: birim fiyat, giriş ücreti, ödeme tutarı</a:t>
            </a:r>
          </a:p>
        </p:txBody>
      </p:sp>
      <p:sp>
        <p:nvSpPr>
          <p:cNvPr id="6" name="Kart Kısıtlar"/>
          <p:cNvSpPr/>
          <p:nvPr/>
        </p:nvSpPr>
        <p:spPr>
          <a:xfrm>
            <a:off x="6309360" y="1463040"/>
            <a:ext cx="5029200" cy="42976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şlık Kısıtlar"/>
          <p:cNvSpPr txBox="1"/>
          <p:nvPr/>
        </p:nvSpPr>
        <p:spPr>
          <a:xfrm>
            <a:off x="6492240" y="1600200"/>
            <a:ext cx="4663440" cy="548640"/>
          </a:xfrm>
          <a:prstGeom prst="rect">
            <a:avLst/>
          </a:prstGeom>
          <a:noFill/>
        </p:spPr>
        <p:txBody>
          <a:bodyPr wrap="square" anchor="t" lIns="45720" rIns="45720">
            <a:spAutoFit/>
          </a:bodyPr>
          <a:lstStyle/>
          <a:p>
            <a:pPr algn="l" marL="274320" indent="-274320">
              <a:spcAft>
                <a:spcPts val="800"/>
              </a:spcAft>
              <a:buNone/>
            </a:pPr>
            <a:r>
              <a:rPr sz="2400" b="1" i="0">
                <a:solidFill>
                  <a:srgbClr val="156082"/>
                </a:solidFill>
                <a:latin typeface="Times New Roman"/>
              </a:rPr>
              <a:t>Kısıtlar</a:t>
            </a:r>
          </a:p>
        </p:txBody>
      </p:sp>
      <p:sp>
        <p:nvSpPr>
          <p:cNvPr id="8" name="Madde Kısıtlar"/>
          <p:cNvSpPr txBox="1"/>
          <p:nvPr/>
        </p:nvSpPr>
        <p:spPr>
          <a:xfrm>
            <a:off x="6492240" y="2286000"/>
            <a:ext cx="4663440" cy="3383280"/>
          </a:xfrm>
          <a:prstGeom prst="rect">
            <a:avLst/>
          </a:prstGeom>
          <a:noFill/>
        </p:spPr>
        <p:txBody>
          <a:bodyPr wrap="square" anchor="t" lIns="45720" rIns="45720">
            <a:spAutoFit/>
          </a:bodyPr>
          <a:lstStyle/>
          <a:p>
            <a:pPr algn="l" marL="274320" indent="-274320">
              <a:spcAft>
                <a:spcPts val="1800"/>
              </a:spcAft>
              <a:buChar char="•"/>
            </a:pPr>
            <a:r>
              <a:rPr sz="2200" b="0" i="0">
                <a:solidFill>
                  <a:srgbClr val="0E2841"/>
                </a:solidFill>
                <a:latin typeface="Times New Roman"/>
              </a:rPr>
              <a:t>36 CHECK: telefon biçimi, rol, ödeme türü, stok ≥ 0</a:t>
            </a:r>
          </a:p>
          <a:p>
            <a:pPr algn="l" marL="274320" indent="-274320">
              <a:spcAft>
                <a:spcPts val="1800"/>
              </a:spcAft>
              <a:buChar char="•"/>
            </a:pPr>
            <a:r>
              <a:rPr sz="2200" b="0" i="0">
                <a:solidFill>
                  <a:srgbClr val="0E2841"/>
                </a:solidFill>
                <a:latin typeface="Times New Roman"/>
              </a:rPr>
              <a:t>Kısmi UNIQUE index: masada tek açık oturum, sistemde tek seçim hakkı</a:t>
            </a:r>
          </a:p>
          <a:p>
            <a:pPr algn="l" marL="274320" indent="-274320">
              <a:spcAft>
                <a:spcPts val="1800"/>
              </a:spcAft>
              <a:buChar char="•"/>
            </a:pPr>
            <a:r>
              <a:rPr sz="2200" b="0" i="0">
                <a:solidFill>
                  <a:srgbClr val="0E2841"/>
                </a:solidFill>
                <a:latin typeface="Times New Roman"/>
              </a:rPr>
              <a:t>6 tetikleyici: kapasite, sıra atlama, müsait kopya (satır kilidiyle), VIP oyun ve VIP kat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Bekleme sırası: her oyunun kendi sırası</a:t>
            </a:r>
          </a:p>
        </p:txBody>
      </p:sp>
      <p:sp>
        <p:nvSpPr>
          <p:cNvPr id="3" name="Adım 1"/>
          <p:cNvSpPr/>
          <p:nvPr/>
        </p:nvSpPr>
        <p:spPr>
          <a:xfrm>
            <a:off x="841248" y="1554480"/>
            <a:ext cx="2011680" cy="32004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dım numarası 1"/>
          <p:cNvSpPr/>
          <p:nvPr/>
        </p:nvSpPr>
        <p:spPr>
          <a:xfrm>
            <a:off x="1527048" y="173736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1</a:t>
            </a:r>
          </a:p>
        </p:txBody>
      </p:sp>
      <p:sp>
        <p:nvSpPr>
          <p:cNvPr id="5" name="Adım başlığı 1"/>
          <p:cNvSpPr txBox="1"/>
          <p:nvPr/>
        </p:nvSpPr>
        <p:spPr>
          <a:xfrm>
            <a:off x="932688" y="2514600"/>
            <a:ext cx="1828800" cy="457200"/>
          </a:xfrm>
          <a:prstGeom prst="rect">
            <a:avLst/>
          </a:prstGeom>
          <a:noFill/>
        </p:spPr>
        <p:txBody>
          <a:bodyPr wrap="square" anchor="t" lIns="45720" rIns="45720">
            <a:spAutoFit/>
          </a:bodyPr>
          <a:lstStyle/>
          <a:p>
            <a:pPr algn="ctr" marL="274320" indent="-274320">
              <a:spcAft>
                <a:spcPts val="800"/>
              </a:spcAft>
              <a:buNone/>
            </a:pPr>
            <a:r>
              <a:rPr sz="1800" b="1" i="0">
                <a:solidFill>
                  <a:srgbClr val="0E2841"/>
                </a:solidFill>
                <a:latin typeface="Times New Roman"/>
              </a:rPr>
              <a:t>Sıraya girer</a:t>
            </a:r>
          </a:p>
        </p:txBody>
      </p:sp>
      <p:sp>
        <p:nvSpPr>
          <p:cNvPr id="6" name="Adım açıklaması 1"/>
          <p:cNvSpPr txBox="1"/>
          <p:nvPr/>
        </p:nvSpPr>
        <p:spPr>
          <a:xfrm>
            <a:off x="932688" y="3017520"/>
            <a:ext cx="1828800" cy="1645920"/>
          </a:xfrm>
          <a:prstGeom prst="rect">
            <a:avLst/>
          </a:prstGeom>
          <a:noFill/>
        </p:spPr>
        <p:txBody>
          <a:bodyPr wrap="square" anchor="t" lIns="45720" rIns="45720">
            <a:spAutoFit/>
          </a:bodyPr>
          <a:lstStyle/>
          <a:p>
            <a:pPr algn="ctr" marL="274320" indent="-274320">
              <a:spcAft>
                <a:spcPts val="800"/>
              </a:spcAft>
              <a:buNone/>
            </a:pPr>
            <a:r>
              <a:rPr sz="1700" b="0" i="0">
                <a:solidFill>
                  <a:srgbClr val="0E2841"/>
                </a:solidFill>
                <a:latin typeface="Times New Roman"/>
              </a:rPr>
              <a:t>Kopya yoksa masa o oyunun sırasına girer (BEKLIYOR)</a:t>
            </a:r>
          </a:p>
        </p:txBody>
      </p:sp>
      <p:sp>
        <p:nvSpPr>
          <p:cNvPr id="7" name="Adım 2"/>
          <p:cNvSpPr/>
          <p:nvPr/>
        </p:nvSpPr>
        <p:spPr>
          <a:xfrm>
            <a:off x="2990088" y="1554480"/>
            <a:ext cx="2011680" cy="32004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dım numarası 2"/>
          <p:cNvSpPr/>
          <p:nvPr/>
        </p:nvSpPr>
        <p:spPr>
          <a:xfrm>
            <a:off x="3675887" y="173736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2</a:t>
            </a:r>
          </a:p>
        </p:txBody>
      </p:sp>
      <p:sp>
        <p:nvSpPr>
          <p:cNvPr id="9" name="Adım başlığı 2"/>
          <p:cNvSpPr txBox="1"/>
          <p:nvPr/>
        </p:nvSpPr>
        <p:spPr>
          <a:xfrm>
            <a:off x="3081528" y="2514600"/>
            <a:ext cx="1828800" cy="457200"/>
          </a:xfrm>
          <a:prstGeom prst="rect">
            <a:avLst/>
          </a:prstGeom>
          <a:noFill/>
        </p:spPr>
        <p:txBody>
          <a:bodyPr wrap="square" anchor="t" lIns="45720" rIns="45720">
            <a:spAutoFit/>
          </a:bodyPr>
          <a:lstStyle/>
          <a:p>
            <a:pPr algn="ctr" marL="274320" indent="-274320">
              <a:spcAft>
                <a:spcPts val="800"/>
              </a:spcAft>
              <a:buNone/>
            </a:pPr>
            <a:r>
              <a:rPr sz="1800" b="1" i="0">
                <a:solidFill>
                  <a:srgbClr val="0E2841"/>
                </a:solidFill>
                <a:latin typeface="Times New Roman"/>
              </a:rPr>
              <a:t>Kopya boşalır</a:t>
            </a:r>
          </a:p>
        </p:txBody>
      </p:sp>
      <p:sp>
        <p:nvSpPr>
          <p:cNvPr id="10" name="Adım açıklaması 2"/>
          <p:cNvSpPr txBox="1"/>
          <p:nvPr/>
        </p:nvSpPr>
        <p:spPr>
          <a:xfrm>
            <a:off x="3081528" y="3017520"/>
            <a:ext cx="1828800" cy="1645920"/>
          </a:xfrm>
          <a:prstGeom prst="rect">
            <a:avLst/>
          </a:prstGeom>
          <a:noFill/>
        </p:spPr>
        <p:txBody>
          <a:bodyPr wrap="square" anchor="t" lIns="45720" rIns="45720">
            <a:spAutoFit/>
          </a:bodyPr>
          <a:lstStyle/>
          <a:p>
            <a:pPr algn="ctr" marL="274320" indent="-274320">
              <a:spcAft>
                <a:spcPts val="800"/>
              </a:spcAft>
              <a:buNone/>
            </a:pPr>
            <a:r>
              <a:rPr sz="1700" b="0" i="0">
                <a:solidFill>
                  <a:srgbClr val="0E2841"/>
                </a:solidFill>
                <a:latin typeface="Times New Roman"/>
              </a:rPr>
              <a:t>sp_oyun_bitir sonrası sp_sirayi_ilerlet çalışır</a:t>
            </a:r>
          </a:p>
        </p:txBody>
      </p:sp>
      <p:sp>
        <p:nvSpPr>
          <p:cNvPr id="11" name="Adım 3"/>
          <p:cNvSpPr/>
          <p:nvPr/>
        </p:nvSpPr>
        <p:spPr>
          <a:xfrm>
            <a:off x="5138928" y="1554480"/>
            <a:ext cx="2011680" cy="32004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dım numarası 3"/>
          <p:cNvSpPr/>
          <p:nvPr/>
        </p:nvSpPr>
        <p:spPr>
          <a:xfrm>
            <a:off x="5824728" y="1737360"/>
            <a:ext cx="640080" cy="640080"/>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3</a:t>
            </a:r>
          </a:p>
        </p:txBody>
      </p:sp>
      <p:sp>
        <p:nvSpPr>
          <p:cNvPr id="13" name="Adım başlığı 3"/>
          <p:cNvSpPr txBox="1"/>
          <p:nvPr/>
        </p:nvSpPr>
        <p:spPr>
          <a:xfrm>
            <a:off x="5230368" y="2514600"/>
            <a:ext cx="1828800" cy="457200"/>
          </a:xfrm>
          <a:prstGeom prst="rect">
            <a:avLst/>
          </a:prstGeom>
          <a:noFill/>
        </p:spPr>
        <p:txBody>
          <a:bodyPr wrap="square" anchor="t" lIns="45720" rIns="45720">
            <a:spAutoFit/>
          </a:bodyPr>
          <a:lstStyle/>
          <a:p>
            <a:pPr algn="ctr" marL="274320" indent="-274320">
              <a:spcAft>
                <a:spcPts val="800"/>
              </a:spcAft>
              <a:buNone/>
            </a:pPr>
            <a:r>
              <a:rPr sz="1800" b="1" i="0">
                <a:solidFill>
                  <a:srgbClr val="0E2841"/>
                </a:solidFill>
                <a:latin typeface="Times New Roman"/>
              </a:rPr>
              <a:t>Seçim hakkı</a:t>
            </a:r>
          </a:p>
        </p:txBody>
      </p:sp>
      <p:sp>
        <p:nvSpPr>
          <p:cNvPr id="14" name="Adım açıklaması 3"/>
          <p:cNvSpPr txBox="1"/>
          <p:nvPr/>
        </p:nvSpPr>
        <p:spPr>
          <a:xfrm>
            <a:off x="5230368" y="3017520"/>
            <a:ext cx="1828800" cy="1645920"/>
          </a:xfrm>
          <a:prstGeom prst="rect">
            <a:avLst/>
          </a:prstGeom>
          <a:noFill/>
        </p:spPr>
        <p:txBody>
          <a:bodyPr wrap="square" anchor="t" lIns="45720" rIns="45720">
            <a:spAutoFit/>
          </a:bodyPr>
          <a:lstStyle/>
          <a:p>
            <a:pPr algn="ctr" marL="274320" indent="-274320">
              <a:spcAft>
                <a:spcPts val="800"/>
              </a:spcAft>
              <a:buNone/>
            </a:pPr>
            <a:r>
              <a:rPr sz="1700" b="0" i="0">
                <a:solidFill>
                  <a:srgbClr val="0E2841"/>
                </a:solidFill>
                <a:latin typeface="Times New Roman"/>
              </a:rPr>
              <a:t>Sıradaki ilk masaya kopya ayrılır; başkası alamaz</a:t>
            </a:r>
          </a:p>
        </p:txBody>
      </p:sp>
      <p:sp>
        <p:nvSpPr>
          <p:cNvPr id="15" name="Adım 4"/>
          <p:cNvSpPr/>
          <p:nvPr/>
        </p:nvSpPr>
        <p:spPr>
          <a:xfrm>
            <a:off x="7287768" y="1554480"/>
            <a:ext cx="2011680" cy="32004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dım numarası 4"/>
          <p:cNvSpPr/>
          <p:nvPr/>
        </p:nvSpPr>
        <p:spPr>
          <a:xfrm>
            <a:off x="7973568" y="173736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4</a:t>
            </a:r>
          </a:p>
        </p:txBody>
      </p:sp>
      <p:sp>
        <p:nvSpPr>
          <p:cNvPr id="17" name="Adım başlığı 4"/>
          <p:cNvSpPr txBox="1"/>
          <p:nvPr/>
        </p:nvSpPr>
        <p:spPr>
          <a:xfrm>
            <a:off x="7379208" y="2514600"/>
            <a:ext cx="1828800" cy="457200"/>
          </a:xfrm>
          <a:prstGeom prst="rect">
            <a:avLst/>
          </a:prstGeom>
          <a:noFill/>
        </p:spPr>
        <p:txBody>
          <a:bodyPr wrap="square" anchor="t" lIns="45720" rIns="45720">
            <a:spAutoFit/>
          </a:bodyPr>
          <a:lstStyle/>
          <a:p>
            <a:pPr algn="ctr" marL="274320" indent="-274320">
              <a:spcAft>
                <a:spcPts val="800"/>
              </a:spcAft>
              <a:buNone/>
            </a:pPr>
            <a:r>
              <a:rPr sz="1800" b="1" i="0">
                <a:solidFill>
                  <a:srgbClr val="0E2841"/>
                </a:solidFill>
                <a:latin typeface="Times New Roman"/>
              </a:rPr>
              <a:t>Masa seçer</a:t>
            </a:r>
          </a:p>
        </p:txBody>
      </p:sp>
      <p:sp>
        <p:nvSpPr>
          <p:cNvPr id="18" name="Adım açıklaması 4"/>
          <p:cNvSpPr txBox="1"/>
          <p:nvPr/>
        </p:nvSpPr>
        <p:spPr>
          <a:xfrm>
            <a:off x="7379208" y="3017520"/>
            <a:ext cx="1828800" cy="1645920"/>
          </a:xfrm>
          <a:prstGeom prst="rect">
            <a:avLst/>
          </a:prstGeom>
          <a:noFill/>
        </p:spPr>
        <p:txBody>
          <a:bodyPr wrap="square" anchor="t" lIns="45720" rIns="45720">
            <a:spAutoFit/>
          </a:bodyPr>
          <a:lstStyle/>
          <a:p>
            <a:pPr algn="ctr" marL="274320" indent="-274320">
              <a:spcAft>
                <a:spcPts val="800"/>
              </a:spcAft>
              <a:buNone/>
            </a:pPr>
            <a:r>
              <a:rPr sz="1700" b="0" i="0">
                <a:solidFill>
                  <a:srgbClr val="0E2841"/>
                </a:solidFill>
                <a:latin typeface="Times New Roman"/>
              </a:rPr>
              <a:t>sp_oyun_sec ile ayrılan oyunu alır</a:t>
            </a:r>
          </a:p>
        </p:txBody>
      </p:sp>
      <p:sp>
        <p:nvSpPr>
          <p:cNvPr id="19" name="Adım 5"/>
          <p:cNvSpPr/>
          <p:nvPr/>
        </p:nvSpPr>
        <p:spPr>
          <a:xfrm>
            <a:off x="9436608" y="1554480"/>
            <a:ext cx="2011680" cy="32004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dım numarası 5"/>
          <p:cNvSpPr/>
          <p:nvPr/>
        </p:nvSpPr>
        <p:spPr>
          <a:xfrm>
            <a:off x="10122408" y="1737360"/>
            <a:ext cx="640080" cy="64008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2400" b="1" i="0">
                <a:solidFill>
                  <a:srgbClr val="FFFFFF"/>
                </a:solidFill>
                <a:latin typeface="Times New Roman"/>
              </a:rPr>
              <a:t>5</a:t>
            </a:r>
          </a:p>
        </p:txBody>
      </p:sp>
      <p:sp>
        <p:nvSpPr>
          <p:cNvPr id="21" name="Adım başlığı 5"/>
          <p:cNvSpPr txBox="1"/>
          <p:nvPr/>
        </p:nvSpPr>
        <p:spPr>
          <a:xfrm>
            <a:off x="9528048" y="2514600"/>
            <a:ext cx="1828800" cy="457200"/>
          </a:xfrm>
          <a:prstGeom prst="rect">
            <a:avLst/>
          </a:prstGeom>
          <a:noFill/>
        </p:spPr>
        <p:txBody>
          <a:bodyPr wrap="square" anchor="t" lIns="45720" rIns="45720">
            <a:spAutoFit/>
          </a:bodyPr>
          <a:lstStyle/>
          <a:p>
            <a:pPr algn="ctr" marL="274320" indent="-274320">
              <a:spcAft>
                <a:spcPts val="800"/>
              </a:spcAft>
              <a:buNone/>
            </a:pPr>
            <a:r>
              <a:rPr sz="1800" b="1" i="0">
                <a:solidFill>
                  <a:srgbClr val="0E2841"/>
                </a:solidFill>
                <a:latin typeface="Times New Roman"/>
              </a:rPr>
              <a:t>Süre dolarsa</a:t>
            </a:r>
          </a:p>
        </p:txBody>
      </p:sp>
      <p:sp>
        <p:nvSpPr>
          <p:cNvPr id="22" name="Adım açıklaması 5"/>
          <p:cNvSpPr txBox="1"/>
          <p:nvPr/>
        </p:nvSpPr>
        <p:spPr>
          <a:xfrm>
            <a:off x="9528048" y="3017520"/>
            <a:ext cx="1828800" cy="1645920"/>
          </a:xfrm>
          <a:prstGeom prst="rect">
            <a:avLst/>
          </a:prstGeom>
          <a:noFill/>
        </p:spPr>
        <p:txBody>
          <a:bodyPr wrap="square" anchor="t" lIns="45720" rIns="45720">
            <a:spAutoFit/>
          </a:bodyPr>
          <a:lstStyle/>
          <a:p>
            <a:pPr algn="ctr" marL="274320" indent="-274320">
              <a:spcAft>
                <a:spcPts val="800"/>
              </a:spcAft>
              <a:buNone/>
            </a:pPr>
            <a:r>
              <a:rPr sz="1700" b="0" i="0">
                <a:solidFill>
                  <a:srgbClr val="0E2841"/>
                </a:solidFill>
                <a:latin typeface="Times New Roman"/>
              </a:rPr>
              <a:t>5 dk sonra sıranın sonuna gider (ATLANDI)</a:t>
            </a:r>
          </a:p>
        </p:txBody>
      </p:sp>
      <p:sp>
        <p:nvSpPr>
          <p:cNvPr id="23" name="Sıra kuralları"/>
          <p:cNvSpPr txBox="1"/>
          <p:nvPr/>
        </p:nvSpPr>
        <p:spPr>
          <a:xfrm>
            <a:off x="841248" y="5120640"/>
            <a:ext cx="10515600" cy="1280160"/>
          </a:xfrm>
          <a:prstGeom prst="rect">
            <a:avLst/>
          </a:prstGeom>
          <a:noFill/>
        </p:spPr>
        <p:txBody>
          <a:bodyPr wrap="square" anchor="t" lIns="45720" rIns="45720">
            <a:spAutoFit/>
          </a:bodyPr>
          <a:lstStyle/>
          <a:p>
            <a:pPr algn="l" marL="274320" indent="-274320">
              <a:spcAft>
                <a:spcPts val="1000"/>
              </a:spcAft>
              <a:buChar char="•"/>
            </a:pPr>
            <a:r>
              <a:rPr sz="2200" b="0" i="0">
                <a:solidFill>
                  <a:srgbClr val="0E2841"/>
                </a:solidFill>
                <a:latin typeface="Times New Roman"/>
              </a:rPr>
              <a:t>Diğer oyunlar serbest: bir masanın beklemesi kafeyi kilitlemez</a:t>
            </a:r>
          </a:p>
          <a:p>
            <a:pPr algn="l" marL="274320" indent="-274320">
              <a:spcAft>
                <a:spcPts val="1000"/>
              </a:spcAft>
              <a:buChar char="•"/>
            </a:pPr>
            <a:r>
              <a:rPr sz="2200" b="0" i="0">
                <a:solidFill>
                  <a:srgbClr val="0E2841"/>
                </a:solidFill>
                <a:latin typeface="Times New Roman"/>
              </a:rPr>
              <a:t>Ayrılmış kopyayı başlatma denemesi tetikleyicide reddedilir: sıra atlanamaz</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Prosedür, fonksiyon, view ve tetikleyici</a:t>
            </a:r>
          </a:p>
        </p:txBody>
      </p:sp>
      <p:sp>
        <p:nvSpPr>
          <p:cNvPr id="3" name="Sayı prosedür"/>
          <p:cNvSpPr/>
          <p:nvPr/>
        </p:nvSpPr>
        <p:spPr>
          <a:xfrm>
            <a:off x="841248" y="1554480"/>
            <a:ext cx="2423160" cy="201168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6600" b="1" i="0">
                <a:solidFill>
                  <a:srgbClr val="FFFFFF"/>
                </a:solidFill>
                <a:latin typeface="Times New Roman"/>
              </a:rPr>
              <a:t>16</a:t>
            </a:r>
          </a:p>
          <a:p>
            <a:pPr algn="ctr" marL="274320" indent="-274320">
              <a:spcAft>
                <a:spcPts val="200"/>
              </a:spcAft>
              <a:buNone/>
            </a:pPr>
            <a:r>
              <a:rPr sz="2200" b="0" i="0">
                <a:solidFill>
                  <a:srgbClr val="FFFFFF"/>
                </a:solidFill>
                <a:latin typeface="Times New Roman"/>
              </a:rPr>
              <a:t>prosedür</a:t>
            </a:r>
          </a:p>
        </p:txBody>
      </p:sp>
      <p:sp>
        <p:nvSpPr>
          <p:cNvPr id="4" name="Sayı fonksiyon"/>
          <p:cNvSpPr/>
          <p:nvPr/>
        </p:nvSpPr>
        <p:spPr>
          <a:xfrm>
            <a:off x="3520440" y="1554480"/>
            <a:ext cx="2423160" cy="20116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6600" b="1" i="0">
                <a:solidFill>
                  <a:srgbClr val="0E2841"/>
                </a:solidFill>
                <a:latin typeface="Times New Roman"/>
              </a:rPr>
              <a:t>12</a:t>
            </a:r>
          </a:p>
          <a:p>
            <a:pPr algn="ctr" marL="274320" indent="-274320">
              <a:spcAft>
                <a:spcPts val="200"/>
              </a:spcAft>
              <a:buNone/>
            </a:pPr>
            <a:r>
              <a:rPr sz="2200" b="0" i="0">
                <a:solidFill>
                  <a:srgbClr val="0E2841"/>
                </a:solidFill>
                <a:latin typeface="Times New Roman"/>
              </a:rPr>
              <a:t>fonksiyon</a:t>
            </a:r>
          </a:p>
        </p:txBody>
      </p:sp>
      <p:sp>
        <p:nvSpPr>
          <p:cNvPr id="5" name="Sayı view"/>
          <p:cNvSpPr/>
          <p:nvPr/>
        </p:nvSpPr>
        <p:spPr>
          <a:xfrm>
            <a:off x="6199632" y="1554480"/>
            <a:ext cx="2423160" cy="2011680"/>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6600" b="1" i="0">
                <a:solidFill>
                  <a:srgbClr val="FFFFFF"/>
                </a:solidFill>
                <a:latin typeface="Times New Roman"/>
              </a:rPr>
              <a:t>15</a:t>
            </a:r>
          </a:p>
          <a:p>
            <a:pPr algn="ctr" marL="274320" indent="-274320">
              <a:spcAft>
                <a:spcPts val="200"/>
              </a:spcAft>
              <a:buNone/>
            </a:pPr>
            <a:r>
              <a:rPr sz="2200" b="0" i="0">
                <a:solidFill>
                  <a:srgbClr val="FFFFFF"/>
                </a:solidFill>
                <a:latin typeface="Times New Roman"/>
              </a:rPr>
              <a:t>view</a:t>
            </a:r>
          </a:p>
        </p:txBody>
      </p:sp>
      <p:sp>
        <p:nvSpPr>
          <p:cNvPr id="6" name="Sayı tetikleyici"/>
          <p:cNvSpPr/>
          <p:nvPr/>
        </p:nvSpPr>
        <p:spPr>
          <a:xfrm>
            <a:off x="8878824" y="1554480"/>
            <a:ext cx="2423160" cy="20116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marL="274320" indent="-274320">
              <a:spcAft>
                <a:spcPts val="200"/>
              </a:spcAft>
              <a:buNone/>
            </a:pPr>
            <a:r>
              <a:rPr sz="6600" b="1" i="0">
                <a:solidFill>
                  <a:srgbClr val="0E2841"/>
                </a:solidFill>
                <a:latin typeface="Times New Roman"/>
              </a:rPr>
              <a:t>6</a:t>
            </a:r>
          </a:p>
          <a:p>
            <a:pPr algn="ctr" marL="274320" indent="-274320">
              <a:spcAft>
                <a:spcPts val="200"/>
              </a:spcAft>
              <a:buNone/>
            </a:pPr>
            <a:r>
              <a:rPr sz="2200" b="0" i="0">
                <a:solidFill>
                  <a:srgbClr val="0E2841"/>
                </a:solidFill>
                <a:latin typeface="Times New Roman"/>
              </a:rPr>
              <a:t>tetikleyici</a:t>
            </a:r>
          </a:p>
        </p:txBody>
      </p:sp>
      <p:sp>
        <p:nvSpPr>
          <p:cNvPr id="7" name="Örnek prosedür"/>
          <p:cNvSpPr/>
          <p:nvPr/>
        </p:nvSpPr>
        <p:spPr>
          <a:xfrm>
            <a:off x="841248" y="3886200"/>
            <a:ext cx="10515600" cy="146304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marL="274320" indent="-274320">
              <a:spcAft>
                <a:spcPts val="600"/>
              </a:spcAft>
              <a:buNone/>
            </a:pPr>
            <a:r>
              <a:rPr sz="2000" b="1" i="0">
                <a:solidFill>
                  <a:srgbClr val="156082"/>
                </a:solidFill>
                <a:latin typeface="Times New Roman"/>
              </a:rPr>
              <a:t>sp_oturum_kapat</a:t>
            </a:r>
            <a:r>
              <a:rPr sz="2000" b="0" i="0">
                <a:solidFill>
                  <a:srgbClr val="0E2841"/>
                </a:solidFill>
                <a:latin typeface="Times New Roman"/>
              </a:rPr>
              <a:t> tek transaction içinde:</a:t>
            </a:r>
          </a:p>
          <a:p>
            <a:pPr algn="l" marL="274320" indent="-274320">
              <a:spcAft>
                <a:spcPts val="600"/>
              </a:spcAft>
              <a:buNone/>
            </a:pPr>
            <a:r>
              <a:rPr sz="2000" b="0" i="0">
                <a:solidFill>
                  <a:srgbClr val="0E2841"/>
                </a:solidFill>
                <a:latin typeface="Times New Roman"/>
              </a:rPr>
              <a:t>oyunu iade eder · sırayı iptal eder · toplamı hesaplar · ödemeyi kaydeder · sırayı ilerletir</a:t>
            </a:r>
          </a:p>
        </p:txBody>
      </p:sp>
      <p:sp>
        <p:nvSpPr>
          <p:cNvPr id="8" name="Özet satırı"/>
          <p:cNvSpPr txBox="1"/>
          <p:nvPr/>
        </p:nvSpPr>
        <p:spPr>
          <a:xfrm>
            <a:off x="841248" y="5577840"/>
            <a:ext cx="10515600" cy="548640"/>
          </a:xfrm>
          <a:prstGeom prst="rect">
            <a:avLst/>
          </a:prstGeom>
          <a:noFill/>
        </p:spPr>
        <p:txBody>
          <a:bodyPr wrap="square" anchor="t" lIns="45720" rIns="45720">
            <a:spAutoFit/>
          </a:bodyPr>
          <a:lstStyle/>
          <a:p>
            <a:pPr algn="l" marL="274320" indent="-274320">
              <a:spcAft>
                <a:spcPts val="800"/>
              </a:spcAft>
              <a:buNone/>
            </a:pPr>
            <a:r>
              <a:rPr sz="1800" b="0" i="0">
                <a:solidFill>
                  <a:srgbClr val="595959"/>
                </a:solidFill>
                <a:latin typeface="Times New Roman"/>
              </a:rPr>
              <a:t>13 tablo · 36 CHECK · 11 index (7'si kısmi) · bcrypt parola · SECURITY DEFINER prosedürler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Yetkilendirme ve maskeleme</a:t>
            </a:r>
          </a:p>
        </p:txBody>
      </p:sp>
      <p:graphicFrame>
        <p:nvGraphicFramePr>
          <p:cNvPr id="3" name="Table 2"/>
          <p:cNvGraphicFramePr>
            <a:graphicFrameLocks noGrp="1"/>
          </p:cNvGraphicFramePr>
          <p:nvPr/>
        </p:nvGraphicFramePr>
        <p:xfrm>
          <a:off x="841248" y="1463040"/>
          <a:ext cx="6949440" cy="4206240"/>
        </p:xfrm>
        <a:graphic>
          <a:graphicData uri="http://schemas.openxmlformats.org/drawingml/2006/table">
            <a:tbl>
              <a:tblPr firstRow="1" bandRow="1">
                <a:tableStyleId>{5C22544A-7EE6-4342-B048-85BDC9FD1C3A}</a:tableStyleId>
              </a:tblPr>
              <a:tblGrid>
                <a:gridCol w="3108960"/>
                <a:gridCol w="960120"/>
                <a:gridCol w="960120"/>
                <a:gridCol w="960120"/>
                <a:gridCol w="960120"/>
              </a:tblGrid>
              <a:tr h="467360">
                <a:tc>
                  <a:txBody>
                    <a:bodyPr/>
                    <a:lstStyle/>
                    <a:p>
                      <a:pPr algn="l"/>
                      <a:r>
                        <a:rPr sz="1500" b="1" i="0">
                          <a:solidFill>
                            <a:srgbClr val="FFFFFF"/>
                          </a:solidFill>
                          <a:latin typeface="Times New Roman"/>
                        </a:rPr>
                        <a:t>İşlem</a:t>
                      </a:r>
                    </a:p>
                  </a:txBody>
                  <a:tcPr anchor="ctr"/>
                </a:tc>
                <a:tc>
                  <a:txBody>
                    <a:bodyPr/>
                    <a:lstStyle/>
                    <a:p>
                      <a:pPr algn="ctr"/>
                      <a:r>
                        <a:rPr sz="1500" b="1" i="0">
                          <a:solidFill>
                            <a:srgbClr val="FFFFFF"/>
                          </a:solidFill>
                          <a:latin typeface="Times New Roman"/>
                        </a:rPr>
                        <a:t>giris</a:t>
                      </a:r>
                    </a:p>
                  </a:txBody>
                  <a:tcPr anchor="ctr"/>
                </a:tc>
                <a:tc>
                  <a:txBody>
                    <a:bodyPr/>
                    <a:lstStyle/>
                    <a:p>
                      <a:pPr algn="ctr"/>
                      <a:r>
                        <a:rPr sz="1500" b="1" i="0">
                          <a:solidFill>
                            <a:srgbClr val="FFFFFF"/>
                          </a:solidFill>
                          <a:latin typeface="Times New Roman"/>
                        </a:rPr>
                        <a:t>garson</a:t>
                      </a:r>
                    </a:p>
                  </a:txBody>
                  <a:tcPr anchor="ctr"/>
                </a:tc>
                <a:tc>
                  <a:txBody>
                    <a:bodyPr/>
                    <a:lstStyle/>
                    <a:p>
                      <a:pPr algn="ctr"/>
                      <a:r>
                        <a:rPr sz="1500" b="1" i="0">
                          <a:solidFill>
                            <a:srgbClr val="FFFFFF"/>
                          </a:solidFill>
                          <a:latin typeface="Times New Roman"/>
                        </a:rPr>
                        <a:t>kasiyer</a:t>
                      </a:r>
                    </a:p>
                  </a:txBody>
                  <a:tcPr anchor="ctr"/>
                </a:tc>
                <a:tc>
                  <a:txBody>
                    <a:bodyPr/>
                    <a:lstStyle/>
                    <a:p>
                      <a:pPr algn="ctr"/>
                      <a:r>
                        <a:rPr sz="1500" b="1" i="0">
                          <a:solidFill>
                            <a:srgbClr val="FFFFFF"/>
                          </a:solidFill>
                          <a:latin typeface="Times New Roman"/>
                        </a:rPr>
                        <a:t>yönetici</a:t>
                      </a:r>
                    </a:p>
                  </a:txBody>
                  <a:tcPr anchor="ctr"/>
                </a:tc>
              </a:tr>
              <a:tr h="467360">
                <a:tc>
                  <a:txBody>
                    <a:bodyPr/>
                    <a:lstStyle/>
                    <a:p>
                      <a:pPr algn="l"/>
                      <a:r>
                        <a:rPr sz="1400" b="0" i="0">
                          <a:solidFill>
                            <a:srgbClr val="0E2841"/>
                          </a:solidFill>
                          <a:latin typeface="Times New Roman"/>
                        </a:rPr>
                        <a:t>Ham müşteri tablosunu okuma</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Maskeli müşteri view'ı</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Siparişe doğrudan INSERT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sp_siparis_ver (prosedür)</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sp_oturum_kapat (hesap kapatma)</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fn_personel_giris (parola doğrulama)</a:t>
                      </a:r>
                    </a:p>
                  </a:txBody>
                  <a:tcPr anchor="ctr" marT="27432" marB="27432"/>
                </a:tc>
                <a:tc>
                  <a:txBody>
                    <a:bodyPr/>
                    <a:lstStyle/>
                    <a:p>
                      <a:pPr algn="ctr"/>
                      <a:r>
                        <a:rPr sz="1800" b="1" i="0">
                          <a:solidFill>
                            <a:srgbClr val="196B24"/>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sp_musteri_vip (VIP üyelik verme)</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196B24"/>
                          </a:solidFill>
                          <a:latin typeface="Segoe UI Symbol"/>
                        </a:rPr>
                        <a:t>✓</a:t>
                      </a:r>
                    </a:p>
                  </a:txBody>
                  <a:tcPr anchor="ctr" marT="27432" marB="27432"/>
                </a:tc>
              </a:tr>
              <a:tr h="467360">
                <a:tc>
                  <a:txBody>
                    <a:bodyPr/>
                    <a:lstStyle/>
                    <a:p>
                      <a:pPr algn="l"/>
                      <a:r>
                        <a:rPr sz="1400" b="0" i="0">
                          <a:solidFill>
                            <a:srgbClr val="0E2841"/>
                          </a:solidFill>
                          <a:latin typeface="Times New Roman"/>
                        </a:rPr>
                        <a:t>VIP olmayana VIP oyun (tetikleyici)</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c>
                  <a:txBody>
                    <a:bodyPr/>
                    <a:lstStyle/>
                    <a:p>
                      <a:pPr algn="ctr"/>
                      <a:r>
                        <a:rPr sz="1800" b="1" i="0">
                          <a:solidFill>
                            <a:srgbClr val="C00000"/>
                          </a:solidFill>
                          <a:latin typeface="Segoe UI Symbol"/>
                        </a:rPr>
                        <a:t>✗</a:t>
                      </a:r>
                    </a:p>
                  </a:txBody>
                  <a:tcPr anchor="ctr" marT="27432" marB="27432"/>
                </a:tc>
              </a:tr>
            </a:tbl>
          </a:graphicData>
        </a:graphic>
      </p:graphicFrame>
      <p:sp>
        <p:nvSpPr>
          <p:cNvPr id="4" name="Maskeleme kartı"/>
          <p:cNvSpPr/>
          <p:nvPr/>
        </p:nvSpPr>
        <p:spPr>
          <a:xfrm>
            <a:off x="8092440" y="1463040"/>
            <a:ext cx="3264408" cy="420624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marL="274320" indent="-274320">
              <a:spcAft>
                <a:spcPts val="600"/>
              </a:spcAft>
              <a:buNone/>
            </a:pPr>
            <a:r>
              <a:rPr sz="2200" b="1" i="0">
                <a:solidFill>
                  <a:srgbClr val="156082"/>
                </a:solidFill>
                <a:latin typeface="Times New Roman"/>
              </a:rPr>
              <a:t>Maskeleme</a:t>
            </a:r>
          </a:p>
          <a:p>
            <a:pPr algn="l" marL="274320" indent="-274320">
              <a:spcAft>
                <a:spcPts val="600"/>
              </a:spcAft>
              <a:buNone/>
            </a:pPr>
            <a:r>
              <a:rPr sz="1600" b="0" i="0">
                <a:solidFill>
                  <a:srgbClr val="595959"/>
                </a:solidFill>
                <a:latin typeface="Times New Roman"/>
              </a:rPr>
              <a:t>Aynı müşteri, farklı roller</a:t>
            </a:r>
          </a:p>
          <a:p>
            <a:pPr algn="l" marL="274320" indent="-274320">
              <a:spcAft>
                <a:spcPts val="600"/>
              </a:spcAft>
              <a:buNone/>
            </a:pPr>
            <a:r>
              <a:rPr sz="1600" b="1" i="0">
                <a:solidFill>
                  <a:srgbClr val="0E2841"/>
                </a:solidFill>
                <a:latin typeface="Times New Roman"/>
              </a:rPr>
              <a:t>yönetici</a:t>
            </a:r>
          </a:p>
          <a:p>
            <a:pPr algn="l" marL="274320" indent="-274320">
              <a:spcAft>
                <a:spcPts val="600"/>
              </a:spcAft>
              <a:buNone/>
            </a:pPr>
            <a:r>
              <a:rPr sz="2000" b="0" i="0">
                <a:solidFill>
                  <a:srgbClr val="0E2841"/>
                </a:solidFill>
                <a:latin typeface="Times New Roman"/>
              </a:rPr>
              <a:t>05321234567</a:t>
            </a:r>
          </a:p>
          <a:p>
            <a:pPr algn="l" marL="274320" indent="-274320">
              <a:spcAft>
                <a:spcPts val="600"/>
              </a:spcAft>
              <a:buNone/>
            </a:pPr>
            <a:r>
              <a:rPr sz="1600" b="1" i="0">
                <a:solidFill>
                  <a:srgbClr val="0E2841"/>
                </a:solidFill>
                <a:latin typeface="Times New Roman"/>
              </a:rPr>
              <a:t>garson / kasiyer</a:t>
            </a:r>
          </a:p>
          <a:p>
            <a:pPr algn="l" marL="274320" indent="-274320">
              <a:spcAft>
                <a:spcPts val="600"/>
              </a:spcAft>
              <a:buNone/>
            </a:pPr>
            <a:r>
              <a:rPr sz="2000" b="0" i="0">
                <a:solidFill>
                  <a:srgbClr val="0E2841"/>
                </a:solidFill>
                <a:latin typeface="Times New Roman"/>
              </a:rPr>
              <a:t>0532*****67</a:t>
            </a:r>
          </a:p>
          <a:p>
            <a:pPr algn="l" marL="274320" indent="-274320">
              <a:spcAft>
                <a:spcPts val="600"/>
              </a:spcAft>
              <a:buNone/>
            </a:pPr>
            <a:r>
              <a:rPr sz="2000" b="0" i="0">
                <a:solidFill>
                  <a:srgbClr val="0E2841"/>
                </a:solidFill>
                <a:latin typeface="Times New Roman"/>
              </a:rPr>
              <a:t>A*** Y*****</a:t>
            </a:r>
          </a:p>
        </p:txBody>
      </p:sp>
      <p:sp>
        <p:nvSpPr>
          <p:cNvPr id="5" name="YETKI notu"/>
          <p:cNvSpPr txBox="1"/>
          <p:nvPr/>
        </p:nvSpPr>
        <p:spPr>
          <a:xfrm>
            <a:off x="841248" y="5852160"/>
            <a:ext cx="10515600" cy="457200"/>
          </a:xfrm>
          <a:prstGeom prst="rect">
            <a:avLst/>
          </a:prstGeom>
          <a:noFill/>
        </p:spPr>
        <p:txBody>
          <a:bodyPr wrap="square" anchor="t" lIns="45720" rIns="45720">
            <a:spAutoFit/>
          </a:bodyPr>
          <a:lstStyle/>
          <a:p>
            <a:pPr algn="l" marL="274320" indent="-274320">
              <a:spcAft>
                <a:spcPts val="800"/>
              </a:spcAft>
              <a:buNone/>
            </a:pPr>
            <a:r>
              <a:rPr sz="1400" b="0" i="0">
                <a:solidFill>
                  <a:srgbClr val="595959"/>
                </a:solidFill>
                <a:latin typeface="Times New Roman"/>
              </a:rPr>
              <a:t>Her satır ilgili rolle gerçekten çalıştırıldı: docs/YETKI.md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Sorgu performansı: index kanıtı</a:t>
            </a:r>
          </a:p>
        </p:txBody>
      </p:sp>
      <p:graphicFrame>
        <p:nvGraphicFramePr>
          <p:cNvPr id="3" name="Hızlanma grafiği"/>
          <p:cNvGraphicFramePr>
            <a:graphicFrameLocks noGrp="1"/>
          </p:cNvGraphicFramePr>
          <p:nvPr/>
        </p:nvGraphicFramePr>
        <p:xfrm>
          <a:off x="841248" y="1463040"/>
          <a:ext cx="7040880" cy="4572000"/>
        </p:xfrm>
        <a:graphic>
          <a:graphicData uri="http://schemas.openxmlformats.org/drawingml/2006/chart">
            <c:chart xmlns:c="http://schemas.openxmlformats.org/drawingml/2006/chart" r:id="rId3"/>
          </a:graphicData>
        </a:graphic>
      </p:graphicFrame>
      <p:sp>
        <p:nvSpPr>
          <p:cNvPr id="4" name="Ölçüm özeti"/>
          <p:cNvSpPr/>
          <p:nvPr/>
        </p:nvSpPr>
        <p:spPr>
          <a:xfrm>
            <a:off x="8138160" y="1463040"/>
            <a:ext cx="3218688" cy="457200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marL="274320" indent="-274320">
              <a:spcAft>
                <a:spcPts val="800"/>
              </a:spcAft>
              <a:buNone/>
            </a:pPr>
            <a:r>
              <a:rPr sz="2000" b="1" i="0">
                <a:solidFill>
                  <a:srgbClr val="0E2841"/>
                </a:solidFill>
                <a:latin typeface="Times New Roman"/>
              </a:rPr>
              <a:t>100.000 oturum</a:t>
            </a:r>
          </a:p>
          <a:p>
            <a:pPr algn="l" marL="274320" indent="-274320">
              <a:spcAft>
                <a:spcPts val="800"/>
              </a:spcAft>
              <a:buNone/>
            </a:pPr>
            <a:r>
              <a:rPr sz="2000" b="1" i="0">
                <a:solidFill>
                  <a:srgbClr val="0E2841"/>
                </a:solidFill>
                <a:latin typeface="Times New Roman"/>
              </a:rPr>
              <a:t>400.000 sipariş</a:t>
            </a:r>
          </a:p>
          <a:p>
            <a:pPr algn="l" marL="274320" indent="-274320">
              <a:spcAft>
                <a:spcPts val="800"/>
              </a:spcAft>
              <a:buNone/>
            </a:pPr>
            <a:r>
              <a:rPr sz="1600" b="0" i="0">
                <a:solidFill>
                  <a:srgbClr val="595959"/>
                </a:solidFill>
                <a:latin typeface="Times New Roman"/>
              </a:rPr>
              <a:t>5 ölçümün medyanı</a:t>
            </a:r>
          </a:p>
          <a:p>
            <a:pPr algn="l" marL="274320" indent="-274320">
              <a:spcAft>
                <a:spcPts val="800"/>
              </a:spcAft>
              <a:buNone/>
            </a:pPr>
            <a:r>
              <a:rPr sz="1800" b="1" i="0">
                <a:solidFill>
                  <a:srgbClr val="156082"/>
                </a:solidFill>
                <a:latin typeface="Times New Roman"/>
              </a:rPr>
              <a:t>Seq Scan → Index Scan</a:t>
            </a:r>
          </a:p>
          <a:p>
            <a:pPr algn="l" marL="274320" indent="-274320">
              <a:spcAft>
                <a:spcPts val="800"/>
              </a:spcAft>
              <a:buNone/>
            </a:pPr>
            <a:r>
              <a:rPr sz="1600" b="0" i="0">
                <a:solidFill>
                  <a:srgbClr val="595959"/>
                </a:solidFill>
                <a:latin typeface="Times New Roman"/>
              </a:rPr>
              <a:t>Hesabın siparişleri</a:t>
            </a:r>
          </a:p>
          <a:p>
            <a:pPr algn="l" marL="274320" indent="-274320">
              <a:spcAft>
                <a:spcPts val="800"/>
              </a:spcAft>
              <a:buNone/>
            </a:pPr>
            <a:r>
              <a:rPr sz="2000" b="1" i="0">
                <a:solidFill>
                  <a:srgbClr val="E97132"/>
                </a:solidFill>
                <a:latin typeface="Times New Roman"/>
              </a:rPr>
              <a:t>64,6 ms → 0,04 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VIP Kulüp: kural veritabanında</a:t>
            </a:r>
          </a:p>
        </p:txBody>
      </p:sp>
      <p:sp>
        <p:nvSpPr>
          <p:cNvPr id="3" name="VIP maddeleri"/>
          <p:cNvSpPr txBox="1"/>
          <p:nvPr/>
        </p:nvSpPr>
        <p:spPr>
          <a:xfrm>
            <a:off x="841248" y="1463040"/>
            <a:ext cx="4206240" cy="4754880"/>
          </a:xfrm>
          <a:prstGeom prst="rect">
            <a:avLst/>
          </a:prstGeom>
          <a:noFill/>
        </p:spPr>
        <p:txBody>
          <a:bodyPr wrap="square" anchor="t" lIns="45720" rIns="45720">
            <a:spAutoFit/>
          </a:bodyPr>
          <a:lstStyle/>
          <a:p>
            <a:pPr algn="l" marL="274320" indent="-274320">
              <a:spcAft>
                <a:spcPts val="1200"/>
              </a:spcAft>
              <a:buChar char="•"/>
            </a:pPr>
            <a:r>
              <a:rPr sz="2000" b="0" i="0">
                <a:solidFill>
                  <a:srgbClr val="0E2841"/>
                </a:solidFill>
                <a:latin typeface="Times New Roman"/>
              </a:rPr>
              <a:t>Standart müşteri VIP oyunu oynayamaz, VIP kata oturamaz</a:t>
            </a:r>
          </a:p>
          <a:p>
            <a:pPr algn="l" marL="274320" indent="-274320">
              <a:spcAft>
                <a:spcPts val="1200"/>
              </a:spcAft>
              <a:buChar char="•"/>
            </a:pPr>
            <a:r>
              <a:rPr sz="2000" b="0" i="0">
                <a:solidFill>
                  <a:srgbClr val="0E2841"/>
                </a:solidFill>
                <a:latin typeface="Times New Roman"/>
              </a:rPr>
              <a:t>Kural tetikleyicide: VIP_OYUN_YETKISIZ, VIP_KAT_YETKISIZ. API ya da elle INSERT atlayamaz</a:t>
            </a:r>
          </a:p>
          <a:p>
            <a:pPr algn="l" marL="274320" indent="-274320">
              <a:spcAft>
                <a:spcPts val="1200"/>
              </a:spcAft>
              <a:buChar char="•"/>
            </a:pPr>
            <a:r>
              <a:rPr sz="2000" b="0" i="0">
                <a:solidFill>
                  <a:srgbClr val="0E2841"/>
                </a:solidFill>
                <a:latin typeface="Times New Roman"/>
              </a:rPr>
              <a:t>Üyelik yalnızca yönetici: sp_musteri_vip</a:t>
            </a:r>
          </a:p>
          <a:p>
            <a:pPr algn="l" marL="274320" indent="-274320">
              <a:spcAft>
                <a:spcPts val="1200"/>
              </a:spcAft>
              <a:buChar char="•"/>
            </a:pPr>
            <a:r>
              <a:rPr sz="2000" b="0" i="0">
                <a:solidFill>
                  <a:srgbClr val="0E2841"/>
                </a:solidFill>
                <a:latin typeface="Times New Roman"/>
              </a:rPr>
              <a:t>Eklemeli migration: mevcut veri bozulmadı</a:t>
            </a:r>
          </a:p>
        </p:txBody>
      </p:sp>
      <p:pic>
        <p:nvPicPr>
          <p:cNvPr id="4" name="VIP oyun satırı" descr="vip-bilesik.jpg"/>
          <p:cNvPicPr>
            <a:picLocks noChangeAspect="1"/>
          </p:cNvPicPr>
          <p:nvPr/>
        </p:nvPicPr>
        <p:blipFill>
          <a:blip r:embed="rId3"/>
          <a:stretch>
            <a:fillRect/>
          </a:stretch>
        </p:blipFill>
        <p:spPr>
          <a:xfrm>
            <a:off x="5349240" y="1463040"/>
            <a:ext cx="6035040" cy="1337716"/>
          </a:xfrm>
          <a:prstGeom prst="rect">
            <a:avLst/>
          </a:prstGeom>
          <a:ln w="9525">
            <a:solidFill>
              <a:srgbClr val="BFBFBF"/>
            </a:solidFill>
          </a:ln>
        </p:spPr>
      </p:pic>
      <p:sp>
        <p:nvSpPr>
          <p:cNvPr id="5" name="Veritabanı cevabı"/>
          <p:cNvSpPr/>
          <p:nvPr/>
        </p:nvSpPr>
        <p:spPr>
          <a:xfrm>
            <a:off x="5349240" y="3075076"/>
            <a:ext cx="6035040" cy="1554480"/>
          </a:xfrm>
          <a:prstGeom prst="roundRect">
            <a:avLst>
              <a:gd name="adj" fmla="val 8000"/>
            </a:avLst>
          </a:prstGeom>
          <a:solidFill>
            <a:srgbClr val="FBE9E7"/>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marL="274320" indent="-274320">
              <a:spcAft>
                <a:spcPts val="600"/>
              </a:spcAft>
              <a:buNone/>
            </a:pPr>
            <a:r>
              <a:rPr sz="1600" b="0" i="0">
                <a:solidFill>
                  <a:srgbClr val="595959"/>
                </a:solidFill>
                <a:latin typeface="Times New Roman"/>
              </a:rPr>
              <a:t>Standart müşteri "Başlat"a basınca veritabanının cevabı:</a:t>
            </a:r>
          </a:p>
          <a:p>
            <a:pPr algn="l" marL="274320" indent="-274320">
              <a:spcAft>
                <a:spcPts val="600"/>
              </a:spcAft>
              <a:buNone/>
            </a:pPr>
            <a:r>
              <a:rPr sz="2200" b="1" i="0">
                <a:solidFill>
                  <a:srgbClr val="C00000"/>
                </a:solidFill>
                <a:latin typeface="Times New Roman"/>
              </a:rPr>
              <a:t>Bu oyun sadece VIP üyeler içindir (Brass: Birmingham (Deluxe))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Simülasyon: Strateji Salonu ve VIP Kulüp</a:t>
            </a:r>
          </a:p>
        </p:txBody>
      </p:sp>
      <p:pic>
        <p:nvPicPr>
          <p:cNvPr id="3" name="Simülasyon kat 2" descr="Simülasyon kat 2.jpg"/>
          <p:cNvPicPr>
            <a:picLocks noChangeAspect="1"/>
          </p:cNvPicPr>
          <p:nvPr/>
        </p:nvPicPr>
        <p:blipFill>
          <a:blip r:embed="rId3"/>
          <a:stretch>
            <a:fillRect/>
          </a:stretch>
        </p:blipFill>
        <p:spPr>
          <a:xfrm>
            <a:off x="841248" y="1417320"/>
            <a:ext cx="5029200" cy="2829615"/>
          </a:xfrm>
          <a:prstGeom prst="rect">
            <a:avLst/>
          </a:prstGeom>
          <a:ln w="9525">
            <a:solidFill>
              <a:srgbClr val="BFBFBF"/>
            </a:solidFill>
          </a:ln>
        </p:spPr>
      </p:pic>
      <p:sp>
        <p:nvSpPr>
          <p:cNvPr id="4" name="Simülasyon kat 2 açıklaması"/>
          <p:cNvSpPr txBox="1"/>
          <p:nvPr/>
        </p:nvSpPr>
        <p:spPr>
          <a:xfrm>
            <a:off x="841248" y="4338375"/>
            <a:ext cx="5029200" cy="822960"/>
          </a:xfrm>
          <a:prstGeom prst="rect">
            <a:avLst/>
          </a:prstGeom>
          <a:noFill/>
        </p:spPr>
        <p:txBody>
          <a:bodyPr wrap="square" anchor="t" lIns="45720" rIns="45720">
            <a:spAutoFit/>
          </a:bodyPr>
          <a:lstStyle/>
          <a:p>
            <a:pPr algn="l" marL="274320" indent="-274320">
              <a:spcAft>
                <a:spcPts val="800"/>
              </a:spcAft>
              <a:buNone/>
            </a:pPr>
            <a:r>
              <a:rPr sz="1600" b="0" i="0">
                <a:solidFill>
                  <a:srgbClr val="595959"/>
                </a:solidFill>
                <a:latin typeface="Times New Roman"/>
              </a:rPr>
              <a:t>Kat 2 · Strateji Salonu &amp; Bistro: yemek asansörü, servis tezgâhı</a:t>
            </a:r>
          </a:p>
        </p:txBody>
      </p:sp>
      <p:pic>
        <p:nvPicPr>
          <p:cNvPr id="5" name="Simülasyon kat 3" descr="Simülasyon kat 3.jpg"/>
          <p:cNvPicPr>
            <a:picLocks noChangeAspect="1"/>
          </p:cNvPicPr>
          <p:nvPr/>
        </p:nvPicPr>
        <p:blipFill>
          <a:blip r:embed="rId4"/>
          <a:stretch>
            <a:fillRect/>
          </a:stretch>
        </p:blipFill>
        <p:spPr>
          <a:xfrm>
            <a:off x="6309360" y="1417320"/>
            <a:ext cx="5029200" cy="2829615"/>
          </a:xfrm>
          <a:prstGeom prst="rect">
            <a:avLst/>
          </a:prstGeom>
          <a:ln w="9525">
            <a:solidFill>
              <a:srgbClr val="BFBFBF"/>
            </a:solidFill>
          </a:ln>
        </p:spPr>
      </p:pic>
      <p:sp>
        <p:nvSpPr>
          <p:cNvPr id="6" name="Simülasyon kat 3 açıklaması"/>
          <p:cNvSpPr txBox="1"/>
          <p:nvPr/>
        </p:nvSpPr>
        <p:spPr>
          <a:xfrm>
            <a:off x="6309360" y="4338375"/>
            <a:ext cx="5029200" cy="822960"/>
          </a:xfrm>
          <a:prstGeom prst="rect">
            <a:avLst/>
          </a:prstGeom>
          <a:noFill/>
        </p:spPr>
        <p:txBody>
          <a:bodyPr wrap="square" anchor="t" lIns="45720" rIns="45720">
            <a:spAutoFit/>
          </a:bodyPr>
          <a:lstStyle/>
          <a:p>
            <a:pPr algn="l" marL="274320" indent="-274320">
              <a:spcAft>
                <a:spcPts val="800"/>
              </a:spcAft>
              <a:buNone/>
            </a:pPr>
            <a:r>
              <a:rPr sz="1600" b="0" i="0">
                <a:solidFill>
                  <a:srgbClr val="595959"/>
                </a:solidFill>
                <a:latin typeface="Times New Roman"/>
              </a:rPr>
              <a:t>Kat 3 · VIP Kulüp: yıldız rozetli üyeler, VIP vitrin, şömine</a:t>
            </a:r>
          </a:p>
        </p:txBody>
      </p:sp>
      <p:sp>
        <p:nvSpPr>
          <p:cNvPr id="7" name="Simülasyon maddeleri"/>
          <p:cNvSpPr txBox="1"/>
          <p:nvPr/>
        </p:nvSpPr>
        <p:spPr>
          <a:xfrm>
            <a:off x="841248" y="5349240"/>
            <a:ext cx="10515600" cy="1005840"/>
          </a:xfrm>
          <a:prstGeom prst="rect">
            <a:avLst/>
          </a:prstGeom>
          <a:noFill/>
        </p:spPr>
        <p:txBody>
          <a:bodyPr wrap="square" anchor="t" lIns="45720" rIns="45720">
            <a:spAutoFit/>
          </a:bodyPr>
          <a:lstStyle/>
          <a:p>
            <a:pPr algn="l" marL="274320" indent="-274320">
              <a:spcAft>
                <a:spcPts val="600"/>
              </a:spcAft>
              <a:buChar char="•"/>
            </a:pPr>
            <a:r>
              <a:rPr sz="1800" b="0" i="0">
                <a:solidFill>
                  <a:srgbClr val="0E2841"/>
                </a:solidFill>
                <a:latin typeface="Times New Roman"/>
              </a:rPr>
              <a:t>Müşteriler ve garsonlar gerçek API çağrılarıyla veritabanına yazar; raporlar bu veriden gelir</a:t>
            </a:r>
          </a:p>
          <a:p>
            <a:pPr algn="l" marL="274320" indent="-274320">
              <a:spcAft>
                <a:spcPts val="600"/>
              </a:spcAft>
              <a:buChar char="•"/>
            </a:pPr>
            <a:r>
              <a:rPr sz="1800" b="0" i="0">
                <a:solidFill>
                  <a:srgbClr val="0E2841"/>
                </a:solidFill>
                <a:latin typeface="Times New Roman"/>
              </a:rPr>
              <a:t>Yemek siparişi: mutfak (kat 1) → yemek asansörü → servis tezgâhı → masa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Raporlar: kat geliri ve VIP oyunlar</a:t>
            </a:r>
          </a:p>
        </p:txBody>
      </p:sp>
      <p:pic>
        <p:nvPicPr>
          <p:cNvPr id="3" name="Kat geliri raporu" descr="Kat geliri raporu.jpg"/>
          <p:cNvPicPr>
            <a:picLocks noChangeAspect="1"/>
          </p:cNvPicPr>
          <p:nvPr/>
        </p:nvPicPr>
        <p:blipFill>
          <a:blip r:embed="rId3"/>
          <a:stretch>
            <a:fillRect/>
          </a:stretch>
        </p:blipFill>
        <p:spPr>
          <a:xfrm>
            <a:off x="841248" y="1417320"/>
            <a:ext cx="10515600" cy="1926015"/>
          </a:xfrm>
          <a:prstGeom prst="rect">
            <a:avLst/>
          </a:prstGeom>
          <a:ln w="9525">
            <a:solidFill>
              <a:srgbClr val="BFBFBF"/>
            </a:solidFill>
          </a:ln>
        </p:spPr>
      </p:pic>
      <p:sp>
        <p:nvSpPr>
          <p:cNvPr id="4" name="Rapor maddeleri"/>
          <p:cNvSpPr txBox="1"/>
          <p:nvPr/>
        </p:nvSpPr>
        <p:spPr>
          <a:xfrm>
            <a:off x="841248" y="3617655"/>
            <a:ext cx="4846320" cy="2926080"/>
          </a:xfrm>
          <a:prstGeom prst="rect">
            <a:avLst/>
          </a:prstGeom>
          <a:noFill/>
        </p:spPr>
        <p:txBody>
          <a:bodyPr wrap="square" anchor="t" lIns="45720" rIns="45720">
            <a:spAutoFit/>
          </a:bodyPr>
          <a:lstStyle/>
          <a:p>
            <a:pPr algn="l" marL="274320" indent="-274320">
              <a:spcAft>
                <a:spcPts val="1200"/>
              </a:spcAft>
              <a:buChar char="•"/>
            </a:pPr>
            <a:r>
              <a:rPr sz="2000" b="1" i="0">
                <a:solidFill>
                  <a:srgbClr val="156082"/>
                </a:solidFill>
                <a:latin typeface="Times New Roman"/>
              </a:rPr>
              <a:t>v_kat_gelir: </a:t>
            </a:r>
            <a:r>
              <a:rPr sz="2000" b="0" i="0">
                <a:solidFill>
                  <a:srgbClr val="0E2841"/>
                </a:solidFill>
                <a:latin typeface="Times New Roman"/>
              </a:rPr>
              <a:t>giriş, yemek, içecek ve VIP geliri kat bazında</a:t>
            </a:r>
          </a:p>
          <a:p>
            <a:pPr algn="l" marL="274320" indent="-274320">
              <a:spcAft>
                <a:spcPts val="1200"/>
              </a:spcAft>
              <a:buChar char="•"/>
            </a:pPr>
            <a:r>
              <a:rPr sz="2000" b="1" i="0">
                <a:solidFill>
                  <a:srgbClr val="156082"/>
                </a:solidFill>
                <a:latin typeface="Times New Roman"/>
              </a:rPr>
              <a:t>v_vip_oyun_kullanimi: </a:t>
            </a:r>
            <a:r>
              <a:rPr sz="2000" b="0" i="0">
                <a:solidFill>
                  <a:srgbClr val="0E2841"/>
                </a:solidFill>
                <a:latin typeface="Times New Roman"/>
              </a:rPr>
              <a:t>oyun başına oturum, süre, oynayan VIP</a:t>
            </a:r>
          </a:p>
          <a:p>
            <a:pPr algn="l" marL="274320" indent="-274320">
              <a:spcAft>
                <a:spcPts val="1200"/>
              </a:spcAft>
              <a:buChar char="•"/>
            </a:pPr>
            <a:r>
              <a:rPr sz="2000" b="1" i="0">
                <a:solidFill>
                  <a:srgbClr val="E97132"/>
                </a:solidFill>
                <a:latin typeface="Times New Roman"/>
              </a:rPr>
              <a:t>Bir simülasyon günü: </a:t>
            </a:r>
            <a:r>
              <a:rPr sz="2000" b="0" i="0">
                <a:solidFill>
                  <a:srgbClr val="0E2841"/>
                </a:solidFill>
                <a:latin typeface="Times New Roman"/>
              </a:rPr>
              <a:t>103 hesap, 83.255 TL; kat 3: 11 hesap, tamamı VIP</a:t>
            </a:r>
          </a:p>
        </p:txBody>
      </p:sp>
      <p:pic>
        <p:nvPicPr>
          <p:cNvPr id="5" name="VIP oyun kullanım raporu" descr="VIP oyun kullanım raporu.jpg"/>
          <p:cNvPicPr>
            <a:picLocks noChangeAspect="1"/>
          </p:cNvPicPr>
          <p:nvPr/>
        </p:nvPicPr>
        <p:blipFill>
          <a:blip r:embed="rId4"/>
          <a:stretch>
            <a:fillRect/>
          </a:stretch>
        </p:blipFill>
        <p:spPr>
          <a:xfrm>
            <a:off x="5852160" y="3617655"/>
            <a:ext cx="5486400" cy="2536722"/>
          </a:xfrm>
          <a:prstGeom prst="rect">
            <a:avLst/>
          </a:prstGeom>
          <a:ln w="9525">
            <a:solidFill>
              <a:srgbClr val="BFBFBF"/>
            </a:solidFill>
          </a:ln>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Proje kriterlerinin karşılığı</a:t>
            </a:r>
          </a:p>
        </p:txBody>
      </p:sp>
      <p:graphicFrame>
        <p:nvGraphicFramePr>
          <p:cNvPr id="3" name="Table 2"/>
          <p:cNvGraphicFramePr>
            <a:graphicFrameLocks noGrp="1"/>
          </p:cNvGraphicFramePr>
          <p:nvPr/>
        </p:nvGraphicFramePr>
        <p:xfrm>
          <a:off x="841248" y="1371600"/>
          <a:ext cx="10515600" cy="4754880"/>
        </p:xfrm>
        <a:graphic>
          <a:graphicData uri="http://schemas.openxmlformats.org/drawingml/2006/table">
            <a:tbl>
              <a:tblPr firstRow="1" bandRow="1">
                <a:tableStyleId>{5C22544A-7EE6-4342-B048-85BDC9FD1C3A}</a:tableStyleId>
              </a:tblPr>
              <a:tblGrid>
                <a:gridCol w="2926080"/>
                <a:gridCol w="1554480"/>
                <a:gridCol w="6035040"/>
              </a:tblGrid>
              <a:tr h="457200">
                <a:tc>
                  <a:txBody>
                    <a:bodyPr/>
                    <a:lstStyle/>
                    <a:p>
                      <a:r>
                        <a:rPr sz="1600" b="1" i="0">
                          <a:solidFill>
                            <a:srgbClr val="FFFFFF"/>
                          </a:solidFill>
                          <a:latin typeface="Times New Roman"/>
                        </a:rPr>
                        <a:t>Kriter</a:t>
                      </a:r>
                    </a:p>
                  </a:txBody>
                  <a:tcPr anchor="ctr"/>
                </a:tc>
                <a:tc>
                  <a:txBody>
                    <a:bodyPr/>
                    <a:lstStyle/>
                    <a:p>
                      <a:r>
                        <a:rPr sz="1600" b="1" i="0">
                          <a:solidFill>
                            <a:srgbClr val="FFFFFF"/>
                          </a:solidFill>
                          <a:latin typeface="Times New Roman"/>
                        </a:rPr>
                        <a:t>İstenen</a:t>
                      </a:r>
                    </a:p>
                  </a:txBody>
                  <a:tcPr anchor="ctr"/>
                </a:tc>
                <a:tc>
                  <a:txBody>
                    <a:bodyPr/>
                    <a:lstStyle/>
                    <a:p>
                      <a:r>
                        <a:rPr sz="1600" b="1" i="0">
                          <a:solidFill>
                            <a:srgbClr val="FFFFFF"/>
                          </a:solidFill>
                          <a:latin typeface="Times New Roman"/>
                        </a:rPr>
                        <a:t>Karşılığı</a:t>
                      </a:r>
                    </a:p>
                  </a:txBody>
                  <a:tcPr anchor="ctr"/>
                </a:tc>
              </a:tr>
              <a:tr h="429768">
                <a:tc>
                  <a:txBody>
                    <a:bodyPr/>
                    <a:lstStyle/>
                    <a:p>
                      <a:pPr algn="l"/>
                      <a:r>
                        <a:rPr sz="1600" b="1" i="0">
                          <a:solidFill>
                            <a:srgbClr val="0E2841"/>
                          </a:solidFill>
                          <a:latin typeface="Times New Roman"/>
                        </a:rPr>
                        <a:t>Varlık sayısı</a:t>
                      </a:r>
                    </a:p>
                  </a:txBody>
                  <a:tcPr anchor="ctr" marT="27432" marB="27432"/>
                </a:tc>
                <a:tc>
                  <a:txBody>
                    <a:bodyPr/>
                    <a:lstStyle/>
                    <a:p>
                      <a:pPr algn="ctr"/>
                      <a:r>
                        <a:rPr sz="1600" b="0" i="0">
                          <a:solidFill>
                            <a:srgbClr val="595959"/>
                          </a:solidFill>
                          <a:latin typeface="Times New Roman"/>
                        </a:rPr>
                        <a:t>≥ 6</a:t>
                      </a:r>
                    </a:p>
                  </a:txBody>
                  <a:tcPr anchor="ctr" marT="27432" marB="27432"/>
                </a:tc>
                <a:tc>
                  <a:txBody>
                    <a:bodyPr/>
                    <a:lstStyle/>
                    <a:p>
                      <a:pPr algn="l"/>
                      <a:r>
                        <a:rPr sz="1600" b="0" i="0">
                          <a:solidFill>
                            <a:srgbClr val="0E2841"/>
                          </a:solidFill>
                          <a:latin typeface="Times New Roman"/>
                        </a:rPr>
                        <a:t>13 tablo</a:t>
                      </a:r>
                    </a:p>
                  </a:txBody>
                  <a:tcPr anchor="ctr" marT="27432" marB="27432"/>
                </a:tc>
              </a:tr>
              <a:tr h="429768">
                <a:tc>
                  <a:txBody>
                    <a:bodyPr/>
                    <a:lstStyle/>
                    <a:p>
                      <a:pPr algn="l"/>
                      <a:r>
                        <a:rPr sz="1600" b="1" i="0">
                          <a:solidFill>
                            <a:srgbClr val="0E2841"/>
                          </a:solidFill>
                          <a:latin typeface="Times New Roman"/>
                        </a:rPr>
                        <a:t>Normalizasyon, anahtar</a:t>
                      </a:r>
                    </a:p>
                  </a:txBody>
                  <a:tcPr anchor="ctr" marT="27432" marB="27432"/>
                </a:tc>
                <a:tc>
                  <a:txBody>
                    <a:bodyPr/>
                    <a:lstStyle/>
                    <a:p>
                      <a:pPr algn="ctr"/>
                      <a:r>
                        <a:rPr sz="1600" b="0" i="0">
                          <a:solidFill>
                            <a:srgbClr val="595959"/>
                          </a:solidFill>
                          <a:latin typeface="Times New Roman"/>
                        </a:rPr>
                        <a:t>–</a:t>
                      </a:r>
                    </a:p>
                  </a:txBody>
                  <a:tcPr anchor="ctr" marT="27432" marB="27432"/>
                </a:tc>
                <a:tc>
                  <a:txBody>
                    <a:bodyPr/>
                    <a:lstStyle/>
                    <a:p>
                      <a:pPr algn="l"/>
                      <a:r>
                        <a:rPr sz="1600" b="0" i="0">
                          <a:solidFill>
                            <a:srgbClr val="0E2841"/>
                          </a:solidFill>
                          <a:latin typeface="Times New Roman"/>
                        </a:rPr>
                        <a:t>3NF, identity PK, doğal anahtarlara UNIQUE</a:t>
                      </a:r>
                    </a:p>
                  </a:txBody>
                  <a:tcPr anchor="ctr" marT="27432" marB="27432"/>
                </a:tc>
              </a:tr>
              <a:tr h="429768">
                <a:tc>
                  <a:txBody>
                    <a:bodyPr/>
                    <a:lstStyle/>
                    <a:p>
                      <a:pPr algn="l"/>
                      <a:r>
                        <a:rPr sz="1600" b="1" i="0">
                          <a:solidFill>
                            <a:srgbClr val="0E2841"/>
                          </a:solidFill>
                          <a:latin typeface="Times New Roman"/>
                        </a:rPr>
                        <a:t>Constraint</a:t>
                      </a:r>
                    </a:p>
                  </a:txBody>
                  <a:tcPr anchor="ctr" marT="27432" marB="27432"/>
                </a:tc>
                <a:tc>
                  <a:txBody>
                    <a:bodyPr/>
                    <a:lstStyle/>
                    <a:p>
                      <a:pPr algn="ctr"/>
                      <a:r>
                        <a:rPr sz="1600" b="0" i="0">
                          <a:solidFill>
                            <a:srgbClr val="595959"/>
                          </a:solidFill>
                          <a:latin typeface="Times New Roman"/>
                        </a:rPr>
                        <a:t>≥ 5, ≥ 3 tür</a:t>
                      </a:r>
                    </a:p>
                  </a:txBody>
                  <a:tcPr anchor="ctr" marT="27432" marB="27432"/>
                </a:tc>
                <a:tc>
                  <a:txBody>
                    <a:bodyPr/>
                    <a:lstStyle/>
                    <a:p>
                      <a:pPr algn="l"/>
                      <a:r>
                        <a:rPr sz="1600" b="0" i="0">
                          <a:solidFill>
                            <a:srgbClr val="0E2841"/>
                          </a:solidFill>
                          <a:latin typeface="Times New Roman"/>
                        </a:rPr>
                        <a:t>PK, FK, UNIQUE, CHECK (36), NOT NULL, kısmi UNIQUE, tetikleyici</a:t>
                      </a:r>
                    </a:p>
                  </a:txBody>
                  <a:tcPr anchor="ctr" marT="27432" marB="27432"/>
                </a:tc>
              </a:tr>
              <a:tr h="429768">
                <a:tc>
                  <a:txBody>
                    <a:bodyPr/>
                    <a:lstStyle/>
                    <a:p>
                      <a:pPr algn="l"/>
                      <a:r>
                        <a:rPr sz="1600" b="1" i="0">
                          <a:solidFill>
                            <a:srgbClr val="0E2841"/>
                          </a:solidFill>
                          <a:latin typeface="Times New Roman"/>
                        </a:rPr>
                        <a:t>Sorgu performansı</a:t>
                      </a:r>
                    </a:p>
                  </a:txBody>
                  <a:tcPr anchor="ctr" marT="27432" marB="27432"/>
                </a:tc>
                <a:tc>
                  <a:txBody>
                    <a:bodyPr/>
                    <a:lstStyle/>
                    <a:p>
                      <a:pPr algn="ctr"/>
                      <a:r>
                        <a:rPr sz="1600" b="0" i="0">
                          <a:solidFill>
                            <a:srgbClr val="595959"/>
                          </a:solidFill>
                          <a:latin typeface="Times New Roman"/>
                        </a:rPr>
                        <a:t>–</a:t>
                      </a:r>
                    </a:p>
                  </a:txBody>
                  <a:tcPr anchor="ctr" marT="27432" marB="27432"/>
                </a:tc>
                <a:tc>
                  <a:txBody>
                    <a:bodyPr/>
                    <a:lstStyle/>
                    <a:p>
                      <a:pPr algn="l"/>
                      <a:r>
                        <a:rPr sz="1600" b="0" i="0">
                          <a:solidFill>
                            <a:srgbClr val="0E2841"/>
                          </a:solidFill>
                          <a:latin typeface="Times New Roman"/>
                        </a:rPr>
                        <a:t>11 index (7'si kısmi); 6 sorguda 35–1.616× hızlanma</a:t>
                      </a:r>
                    </a:p>
                  </a:txBody>
                  <a:tcPr anchor="ctr" marT="27432" marB="27432"/>
                </a:tc>
              </a:tr>
              <a:tr h="429768">
                <a:tc>
                  <a:txBody>
                    <a:bodyPr/>
                    <a:lstStyle/>
                    <a:p>
                      <a:pPr algn="l"/>
                      <a:r>
                        <a:rPr sz="1600" b="1" i="0">
                          <a:solidFill>
                            <a:srgbClr val="0E2841"/>
                          </a:solidFill>
                          <a:latin typeface="Times New Roman"/>
                        </a:rPr>
                        <a:t>Stored procedure</a:t>
                      </a:r>
                    </a:p>
                  </a:txBody>
                  <a:tcPr anchor="ctr" marT="27432" marB="27432"/>
                </a:tc>
                <a:tc>
                  <a:txBody>
                    <a:bodyPr/>
                    <a:lstStyle/>
                    <a:p>
                      <a:pPr algn="ctr"/>
                      <a:r>
                        <a:rPr sz="1600" b="0" i="0">
                          <a:solidFill>
                            <a:srgbClr val="595959"/>
                          </a:solidFill>
                          <a:latin typeface="Times New Roman"/>
                        </a:rPr>
                        <a:t>≥ 2</a:t>
                      </a:r>
                    </a:p>
                  </a:txBody>
                  <a:tcPr anchor="ctr" marT="27432" marB="27432"/>
                </a:tc>
                <a:tc>
                  <a:txBody>
                    <a:bodyPr/>
                    <a:lstStyle/>
                    <a:p>
                      <a:pPr algn="l"/>
                      <a:r>
                        <a:rPr sz="1600" b="0" i="0">
                          <a:solidFill>
                            <a:srgbClr val="0E2841"/>
                          </a:solidFill>
                          <a:latin typeface="Times New Roman"/>
                        </a:rPr>
                        <a:t>16</a:t>
                      </a:r>
                    </a:p>
                  </a:txBody>
                  <a:tcPr anchor="ctr" marT="27432" marB="27432"/>
                </a:tc>
              </a:tr>
              <a:tr h="429768">
                <a:tc>
                  <a:txBody>
                    <a:bodyPr/>
                    <a:lstStyle/>
                    <a:p>
                      <a:pPr algn="l"/>
                      <a:r>
                        <a:rPr sz="1600" b="1" i="0">
                          <a:solidFill>
                            <a:srgbClr val="0E2841"/>
                          </a:solidFill>
                          <a:latin typeface="Times New Roman"/>
                        </a:rPr>
                        <a:t>View</a:t>
                      </a:r>
                    </a:p>
                  </a:txBody>
                  <a:tcPr anchor="ctr" marT="27432" marB="27432"/>
                </a:tc>
                <a:tc>
                  <a:txBody>
                    <a:bodyPr/>
                    <a:lstStyle/>
                    <a:p>
                      <a:pPr algn="ctr"/>
                      <a:r>
                        <a:rPr sz="1600" b="0" i="0">
                          <a:solidFill>
                            <a:srgbClr val="595959"/>
                          </a:solidFill>
                          <a:latin typeface="Times New Roman"/>
                        </a:rPr>
                        <a:t>≥ 5</a:t>
                      </a:r>
                    </a:p>
                  </a:txBody>
                  <a:tcPr anchor="ctr" marT="27432" marB="27432"/>
                </a:tc>
                <a:tc>
                  <a:txBody>
                    <a:bodyPr/>
                    <a:lstStyle/>
                    <a:p>
                      <a:pPr algn="l"/>
                      <a:r>
                        <a:rPr sz="1600" b="0" i="0">
                          <a:solidFill>
                            <a:srgbClr val="0E2841"/>
                          </a:solidFill>
                          <a:latin typeface="Times New Roman"/>
                        </a:rPr>
                        <a:t>15</a:t>
                      </a:r>
                    </a:p>
                  </a:txBody>
                  <a:tcPr anchor="ctr" marT="27432" marB="27432"/>
                </a:tc>
              </a:tr>
              <a:tr h="429768">
                <a:tc>
                  <a:txBody>
                    <a:bodyPr/>
                    <a:lstStyle/>
                    <a:p>
                      <a:pPr algn="l"/>
                      <a:r>
                        <a:rPr sz="1600" b="1" i="0">
                          <a:solidFill>
                            <a:srgbClr val="0E2841"/>
                          </a:solidFill>
                          <a:latin typeface="Times New Roman"/>
                        </a:rPr>
                        <a:t>Kullanıcı tanımlı fonksiyon</a:t>
                      </a:r>
                    </a:p>
                  </a:txBody>
                  <a:tcPr anchor="ctr" marT="27432" marB="27432"/>
                </a:tc>
                <a:tc>
                  <a:txBody>
                    <a:bodyPr/>
                    <a:lstStyle/>
                    <a:p>
                      <a:pPr algn="ctr"/>
                      <a:r>
                        <a:rPr sz="1600" b="0" i="0">
                          <a:solidFill>
                            <a:srgbClr val="595959"/>
                          </a:solidFill>
                          <a:latin typeface="Times New Roman"/>
                        </a:rPr>
                        <a:t>≥ 2</a:t>
                      </a:r>
                    </a:p>
                  </a:txBody>
                  <a:tcPr anchor="ctr" marT="27432" marB="27432"/>
                </a:tc>
                <a:tc>
                  <a:txBody>
                    <a:bodyPr/>
                    <a:lstStyle/>
                    <a:p>
                      <a:pPr algn="l"/>
                      <a:r>
                        <a:rPr sz="1600" b="0" i="0">
                          <a:solidFill>
                            <a:srgbClr val="0E2841"/>
                          </a:solidFill>
                          <a:latin typeface="Times New Roman"/>
                        </a:rPr>
                        <a:t>12</a:t>
                      </a:r>
                    </a:p>
                  </a:txBody>
                  <a:tcPr anchor="ctr" marT="27432" marB="27432"/>
                </a:tc>
              </a:tr>
              <a:tr h="429768">
                <a:tc>
                  <a:txBody>
                    <a:bodyPr/>
                    <a:lstStyle/>
                    <a:p>
                      <a:pPr algn="l"/>
                      <a:r>
                        <a:rPr sz="1600" b="1" i="0">
                          <a:solidFill>
                            <a:srgbClr val="0E2841"/>
                          </a:solidFill>
                          <a:latin typeface="Times New Roman"/>
                        </a:rPr>
                        <a:t>Yetkilendirme, maskeleme</a:t>
                      </a:r>
                    </a:p>
                  </a:txBody>
                  <a:tcPr anchor="ctr" marT="27432" marB="27432"/>
                </a:tc>
                <a:tc>
                  <a:txBody>
                    <a:bodyPr/>
                    <a:lstStyle/>
                    <a:p>
                      <a:pPr algn="ctr"/>
                      <a:r>
                        <a:rPr sz="1600" b="0" i="0">
                          <a:solidFill>
                            <a:srgbClr val="595959"/>
                          </a:solidFill>
                          <a:latin typeface="Times New Roman"/>
                        </a:rPr>
                        <a:t>–</a:t>
                      </a:r>
                    </a:p>
                  </a:txBody>
                  <a:tcPr anchor="ctr" marT="27432" marB="27432"/>
                </a:tc>
                <a:tc>
                  <a:txBody>
                    <a:bodyPr/>
                    <a:lstStyle/>
                    <a:p>
                      <a:pPr algn="l"/>
                      <a:r>
                        <a:rPr sz="1600" b="0" i="0">
                          <a:solidFill>
                            <a:srgbClr val="0E2841"/>
                          </a:solidFill>
                          <a:latin typeface="Times New Roman"/>
                        </a:rPr>
                        <a:t>4 rol, SECURITY DEFINER, maskeli view, bcrypt</a:t>
                      </a:r>
                    </a:p>
                  </a:txBody>
                  <a:tcPr anchor="ctr" marT="27432" marB="27432"/>
                </a:tc>
              </a:tr>
              <a:tr h="429768">
                <a:tc>
                  <a:txBody>
                    <a:bodyPr/>
                    <a:lstStyle/>
                    <a:p>
                      <a:pPr algn="l"/>
                      <a:r>
                        <a:rPr sz="1600" b="1" i="0">
                          <a:solidFill>
                            <a:srgbClr val="0E2841"/>
                          </a:solidFill>
                          <a:latin typeface="Times New Roman"/>
                        </a:rPr>
                        <a:t>Ön yüz</a:t>
                      </a:r>
                    </a:p>
                  </a:txBody>
                  <a:tcPr anchor="ctr" marT="27432" marB="27432"/>
                </a:tc>
                <a:tc>
                  <a:txBody>
                    <a:bodyPr/>
                    <a:lstStyle/>
                    <a:p>
                      <a:pPr algn="ctr"/>
                      <a:r>
                        <a:rPr sz="1600" b="0" i="0">
                          <a:solidFill>
                            <a:srgbClr val="595959"/>
                          </a:solidFill>
                          <a:latin typeface="Times New Roman"/>
                        </a:rPr>
                        <a:t>–</a:t>
                      </a:r>
                    </a:p>
                  </a:txBody>
                  <a:tcPr anchor="ctr" marT="27432" marB="27432"/>
                </a:tc>
                <a:tc>
                  <a:txBody>
                    <a:bodyPr/>
                    <a:lstStyle/>
                    <a:p>
                      <a:pPr algn="l"/>
                      <a:r>
                        <a:rPr sz="1600" b="0" i="0">
                          <a:solidFill>
                            <a:srgbClr val="0E2841"/>
                          </a:solidFill>
                          <a:latin typeface="Times New Roman"/>
                        </a:rPr>
                        <a:t>React uygulaması, rol bazlı ekranlar</a:t>
                      </a:r>
                    </a:p>
                  </a:txBody>
                  <a:tcPr anchor="ctr" marT="27432" marB="27432"/>
                </a:tc>
              </a:tr>
              <a:tr h="429768">
                <a:tc>
                  <a:txBody>
                    <a:bodyPr/>
                    <a:lstStyle/>
                    <a:p>
                      <a:pPr algn="l"/>
                      <a:r>
                        <a:rPr sz="1600" b="1" i="0">
                          <a:solidFill>
                            <a:srgbClr val="0E2841"/>
                          </a:solidFill>
                          <a:latin typeface="Times New Roman"/>
                        </a:rPr>
                        <a:t>Test</a:t>
                      </a:r>
                    </a:p>
                  </a:txBody>
                  <a:tcPr anchor="ctr" marT="27432" marB="27432"/>
                </a:tc>
                <a:tc>
                  <a:txBody>
                    <a:bodyPr/>
                    <a:lstStyle/>
                    <a:p>
                      <a:pPr algn="ctr"/>
                      <a:r>
                        <a:rPr sz="1600" b="0" i="0">
                          <a:solidFill>
                            <a:srgbClr val="595959"/>
                          </a:solidFill>
                          <a:latin typeface="Times New Roman"/>
                        </a:rPr>
                        <a:t>–</a:t>
                      </a:r>
                    </a:p>
                  </a:txBody>
                  <a:tcPr anchor="ctr" marT="27432" marB="27432"/>
                </a:tc>
                <a:tc>
                  <a:txBody>
                    <a:bodyPr/>
                    <a:lstStyle/>
                    <a:p>
                      <a:pPr algn="l"/>
                      <a:r>
                        <a:rPr sz="1600" b="0" i="0">
                          <a:solidFill>
                            <a:srgbClr val="0E2841"/>
                          </a:solidFill>
                          <a:latin typeface="Times New Roman"/>
                        </a:rPr>
                        <a:t>62 veritabanı + 12 API testi</a:t>
                      </a:r>
                    </a:p>
                  </a:txBody>
                  <a:tcPr anchor="ctr" marT="27432" marB="27432"/>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Canlı demo akışı</a:t>
            </a:r>
          </a:p>
        </p:txBody>
      </p:sp>
      <p:sp>
        <p:nvSpPr>
          <p:cNvPr id="3" name="Content Placeholder 2"/>
          <p:cNvSpPr>
            <a:spLocks noGrp="1"/>
          </p:cNvSpPr>
          <p:nvPr>
            <p:ph idx="1"/>
          </p:nvPr>
        </p:nvSpPr>
        <p:spPr>
          <a:xfrm>
            <a:off x="841248" y="1463040"/>
            <a:ext cx="10515600" cy="4754880"/>
          </a:xfrm>
        </p:spPr>
        <p:txBody>
          <a:bodyPr/>
          <a:lstStyle/>
          <a:p>
            <a:pPr algn="l" marL="457200" indent="-457200">
              <a:spcAft>
                <a:spcPts val="1400"/>
              </a:spcAft>
              <a:buAutoNum type="arabicPeriod"/>
            </a:pPr>
            <a:r>
              <a:rPr sz="2400" b="0" i="0">
                <a:solidFill>
                  <a:srgbClr val="0E2841"/>
                </a:solidFill>
                <a:latin typeface="Times New Roman"/>
              </a:rPr>
              <a:t>Garson girişi: masa panosu (masa 1 ve 2 oynuyor, masa 3 sırada)</a:t>
            </a:r>
          </a:p>
          <a:p>
            <a:pPr algn="l" marL="457200" indent="-457200">
              <a:spcAft>
                <a:spcPts val="1400"/>
              </a:spcAft>
              <a:buAutoNum type="arabicPeriod"/>
            </a:pPr>
            <a:r>
              <a:rPr sz="2400" b="0" i="0">
                <a:solidFill>
                  <a:srgbClr val="0E2841"/>
                </a:solidFill>
                <a:latin typeface="Times New Roman"/>
              </a:rPr>
              <a:t>Yeni müşteri, yeni masa: telefonla ara, bulunamazsa aynı adımda kaydet</a:t>
            </a:r>
          </a:p>
          <a:p>
            <a:pPr algn="l" marL="457200" indent="-457200">
              <a:spcAft>
                <a:spcPts val="1400"/>
              </a:spcAft>
              <a:buAutoNum type="arabicPeriod"/>
            </a:pPr>
            <a:r>
              <a:rPr sz="2400" b="0" i="0">
                <a:solidFill>
                  <a:srgbClr val="0E2841"/>
                </a:solidFill>
                <a:latin typeface="Times New Roman"/>
              </a:rPr>
              <a:t>Sıra atlama engeli: kopya sıradaki masaya ayrılır, başka masa alamaz</a:t>
            </a:r>
          </a:p>
          <a:p>
            <a:pPr algn="l" marL="457200" indent="-457200">
              <a:spcAft>
                <a:spcPts val="1400"/>
              </a:spcAft>
              <a:buAutoNum type="arabicPeriod"/>
            </a:pPr>
            <a:r>
              <a:rPr sz="2400" b="0" i="0">
                <a:solidFill>
                  <a:srgbClr val="0E2841"/>
                </a:solidFill>
                <a:latin typeface="Times New Roman"/>
              </a:rPr>
              <a:t>Sipariş ve stok: stoktan fazlası sipariş edilemez</a:t>
            </a:r>
          </a:p>
          <a:p>
            <a:pPr algn="l" marL="457200" indent="-457200">
              <a:spcAft>
                <a:spcPts val="1400"/>
              </a:spcAft>
              <a:buAutoNum type="arabicPeriod"/>
            </a:pPr>
            <a:r>
              <a:rPr sz="2400" b="0" i="0">
                <a:solidFill>
                  <a:srgbClr val="0E2841"/>
                </a:solidFill>
                <a:latin typeface="Times New Roman"/>
              </a:rPr>
              <a:t>Kasiyer: hesap (giriş × kişi + sipariş), kartla öde, masa boşalır</a:t>
            </a:r>
          </a:p>
          <a:p>
            <a:pPr algn="l" marL="457200" indent="-457200">
              <a:spcAft>
                <a:spcPts val="1400"/>
              </a:spcAft>
              <a:buAutoNum type="arabicPeriod"/>
            </a:pPr>
            <a:r>
              <a:rPr sz="2400" b="0" i="0">
                <a:solidFill>
                  <a:srgbClr val="0E2841"/>
                </a:solidFill>
                <a:latin typeface="Times New Roman"/>
              </a:rPr>
              <a:t>Yetki kanıtı: garson ham müşteri tablosunu okuyamaz, maskeli view görür</a:t>
            </a:r>
          </a:p>
          <a:p>
            <a:pPr algn="l" marL="457200" indent="-457200">
              <a:spcAft>
                <a:spcPts val="1400"/>
              </a:spcAft>
              <a:buAutoNum type="arabicPeriod"/>
            </a:pPr>
            <a:r>
              <a:rPr sz="2400" b="0" i="0">
                <a:solidFill>
                  <a:srgbClr val="0E2841"/>
                </a:solidFill>
                <a:latin typeface="Times New Roman"/>
              </a:rPr>
              <a:t>VIP kuralı: standart müşteriye VIP oyun, veritabanı reddeder</a:t>
            </a:r>
          </a:p>
          <a:p>
            <a:pPr algn="l" marL="457200" indent="-457200">
              <a:spcAft>
                <a:spcPts val="1400"/>
              </a:spcAft>
              <a:buAutoNum type="arabicPeriod"/>
            </a:pPr>
            <a:r>
              <a:rPr sz="2400" b="0" i="0">
                <a:solidFill>
                  <a:srgbClr val="0E2841"/>
                </a:solidFill>
                <a:latin typeface="Times New Roman"/>
              </a:rPr>
              <a:t>Simülasyon ve raporlar: kat 2 bistro, kat 3 VIP Kulüp, kat geliri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841248" y="320040"/>
            <a:ext cx="10515600" cy="914400"/>
          </a:xfrm>
        </p:spPr>
        <p:txBody>
          <a:bodyPr anchor="ctr"/>
          <a:lstStyle/>
          <a:p>
            <a:r>
              <a:rPr sz="3600" b="0" i="0">
                <a:solidFill>
                  <a:srgbClr val="0E2841"/>
                </a:solidFill>
                <a:latin typeface="Times New Roman"/>
              </a:rPr>
              <a:t>Öğrendiklerimiz ve geliştirme fikirleri</a:t>
            </a:r>
          </a:p>
        </p:txBody>
      </p:sp>
      <p:sp>
        <p:nvSpPr>
          <p:cNvPr id="3" name="Kart Öğrendiklerimiz"/>
          <p:cNvSpPr/>
          <p:nvPr/>
        </p:nvSpPr>
        <p:spPr>
          <a:xfrm>
            <a:off x="841248" y="1463040"/>
            <a:ext cx="5029200" cy="47548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şlık Öğrendiklerimiz"/>
          <p:cNvSpPr txBox="1"/>
          <p:nvPr/>
        </p:nvSpPr>
        <p:spPr>
          <a:xfrm>
            <a:off x="1024128" y="1600200"/>
            <a:ext cx="4663440" cy="548640"/>
          </a:xfrm>
          <a:prstGeom prst="rect">
            <a:avLst/>
          </a:prstGeom>
          <a:noFill/>
        </p:spPr>
        <p:txBody>
          <a:bodyPr wrap="square" anchor="t" lIns="45720" rIns="45720">
            <a:spAutoFit/>
          </a:bodyPr>
          <a:lstStyle/>
          <a:p>
            <a:pPr algn="l" marL="274320" indent="-274320">
              <a:spcAft>
                <a:spcPts val="800"/>
              </a:spcAft>
              <a:buNone/>
            </a:pPr>
            <a:r>
              <a:rPr sz="2400" b="1" i="0">
                <a:solidFill>
                  <a:srgbClr val="156082"/>
                </a:solidFill>
                <a:latin typeface="Times New Roman"/>
              </a:rPr>
              <a:t>Öğrendiklerimiz</a:t>
            </a:r>
          </a:p>
        </p:txBody>
      </p:sp>
      <p:sp>
        <p:nvSpPr>
          <p:cNvPr id="5" name="Madde Öğrendiklerimiz"/>
          <p:cNvSpPr txBox="1"/>
          <p:nvPr/>
        </p:nvSpPr>
        <p:spPr>
          <a:xfrm>
            <a:off x="1024128" y="2286000"/>
            <a:ext cx="4663440" cy="3840480"/>
          </a:xfrm>
          <a:prstGeom prst="rect">
            <a:avLst/>
          </a:prstGeom>
          <a:noFill/>
        </p:spPr>
        <p:txBody>
          <a:bodyPr wrap="square" anchor="t" lIns="45720" rIns="45720">
            <a:spAutoFit/>
          </a:bodyPr>
          <a:lstStyle/>
          <a:p>
            <a:pPr algn="l" marL="274320" indent="-274320">
              <a:spcAft>
                <a:spcPts val="1800"/>
              </a:spcAft>
              <a:buChar char="•"/>
            </a:pPr>
            <a:r>
              <a:rPr sz="2200" b="0" i="0">
                <a:solidFill>
                  <a:srgbClr val="0E2841"/>
                </a:solidFill>
                <a:latin typeface="Times New Roman"/>
              </a:rPr>
              <a:t>Kuralı veritabanına koymak: her istemcide tutarlılık</a:t>
            </a:r>
          </a:p>
          <a:p>
            <a:pPr algn="l" marL="274320" indent="-274320">
              <a:spcAft>
                <a:spcPts val="1800"/>
              </a:spcAft>
              <a:buChar char="•"/>
            </a:pPr>
            <a:r>
              <a:rPr sz="2200" b="0" i="0">
                <a:solidFill>
                  <a:srgbClr val="0E2841"/>
                </a:solidFill>
                <a:latin typeface="Times New Roman"/>
              </a:rPr>
              <a:t>Türetilmiş değeri saklamamak: güncelleme anomalisi yok</a:t>
            </a:r>
          </a:p>
          <a:p>
            <a:pPr algn="l" marL="274320" indent="-274320">
              <a:spcAft>
                <a:spcPts val="1800"/>
              </a:spcAft>
              <a:buChar char="•"/>
            </a:pPr>
            <a:r>
              <a:rPr sz="2200" b="0" i="0">
                <a:solidFill>
                  <a:srgbClr val="0E2841"/>
                </a:solidFill>
                <a:latin typeface="Times New Roman"/>
              </a:rPr>
              <a:t>Index'i ölçerek seçmek: 35 ile 1.616 kat arası fark</a:t>
            </a:r>
          </a:p>
          <a:p>
            <a:pPr algn="l" marL="274320" indent="-274320">
              <a:spcAft>
                <a:spcPts val="1800"/>
              </a:spcAft>
              <a:buChar char="•"/>
            </a:pPr>
            <a:r>
              <a:rPr sz="2200" b="0" i="0">
                <a:solidFill>
                  <a:srgbClr val="0E2841"/>
                </a:solidFill>
                <a:latin typeface="Times New Roman"/>
              </a:rPr>
              <a:t>Testi ayrı veritabanında çalıştırmak: geliştirme verisi korunur</a:t>
            </a:r>
          </a:p>
        </p:txBody>
      </p:sp>
      <p:sp>
        <p:nvSpPr>
          <p:cNvPr id="6" name="Kart Geliştirme fikirleri"/>
          <p:cNvSpPr/>
          <p:nvPr/>
        </p:nvSpPr>
        <p:spPr>
          <a:xfrm>
            <a:off x="6309360" y="1463040"/>
            <a:ext cx="5029200" cy="4754880"/>
          </a:xfrm>
          <a:prstGeom prst="roundRect">
            <a:avLst>
              <a:gd name="adj" fmla="val 8000"/>
            </a:avLst>
          </a:prstGeom>
          <a:solidFill>
            <a:srgbClr val="E4EF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şlık Geliştirme fikirleri"/>
          <p:cNvSpPr txBox="1"/>
          <p:nvPr/>
        </p:nvSpPr>
        <p:spPr>
          <a:xfrm>
            <a:off x="6492240" y="1600200"/>
            <a:ext cx="4663440" cy="548640"/>
          </a:xfrm>
          <a:prstGeom prst="rect">
            <a:avLst/>
          </a:prstGeom>
          <a:noFill/>
        </p:spPr>
        <p:txBody>
          <a:bodyPr wrap="square" anchor="t" lIns="45720" rIns="45720">
            <a:spAutoFit/>
          </a:bodyPr>
          <a:lstStyle/>
          <a:p>
            <a:pPr algn="l" marL="274320" indent="-274320">
              <a:spcAft>
                <a:spcPts val="800"/>
              </a:spcAft>
              <a:buNone/>
            </a:pPr>
            <a:r>
              <a:rPr sz="2400" b="1" i="0">
                <a:solidFill>
                  <a:srgbClr val="156082"/>
                </a:solidFill>
                <a:latin typeface="Times New Roman"/>
              </a:rPr>
              <a:t>Geliştirme fikirleri</a:t>
            </a:r>
          </a:p>
        </p:txBody>
      </p:sp>
      <p:sp>
        <p:nvSpPr>
          <p:cNvPr id="8" name="Madde Geliştirme fikirleri"/>
          <p:cNvSpPr txBox="1"/>
          <p:nvPr/>
        </p:nvSpPr>
        <p:spPr>
          <a:xfrm>
            <a:off x="6492240" y="2286000"/>
            <a:ext cx="4663440" cy="3840480"/>
          </a:xfrm>
          <a:prstGeom prst="rect">
            <a:avLst/>
          </a:prstGeom>
          <a:noFill/>
        </p:spPr>
        <p:txBody>
          <a:bodyPr wrap="square" anchor="t" lIns="45720" rIns="45720">
            <a:spAutoFit/>
          </a:bodyPr>
          <a:lstStyle/>
          <a:p>
            <a:pPr algn="l" marL="274320" indent="-274320">
              <a:spcAft>
                <a:spcPts val="1800"/>
              </a:spcAft>
              <a:buChar char="•"/>
            </a:pPr>
            <a:r>
              <a:rPr sz="2200" b="0" i="0">
                <a:solidFill>
                  <a:srgbClr val="0E2841"/>
                </a:solidFill>
                <a:latin typeface="Times New Roman"/>
              </a:rPr>
              <a:t>Rezervasyon</a:t>
            </a:r>
          </a:p>
          <a:p>
            <a:pPr algn="l" marL="274320" indent="-274320">
              <a:spcAft>
                <a:spcPts val="1800"/>
              </a:spcAft>
              <a:buChar char="•"/>
            </a:pPr>
            <a:r>
              <a:rPr sz="2200" b="0" i="0">
                <a:solidFill>
                  <a:srgbClr val="0E2841"/>
                </a:solidFill>
                <a:latin typeface="Times New Roman"/>
              </a:rPr>
              <a:t>Çoklu şube</a:t>
            </a:r>
          </a:p>
          <a:p>
            <a:pPr algn="l" marL="274320" indent="-274320">
              <a:spcAft>
                <a:spcPts val="1800"/>
              </a:spcAft>
              <a:buChar char="•"/>
            </a:pPr>
            <a:r>
              <a:rPr sz="2200" b="0" i="0">
                <a:solidFill>
                  <a:srgbClr val="0E2841"/>
                </a:solidFill>
                <a:latin typeface="Times New Roman"/>
              </a:rPr>
              <a:t>VIP üyelik seviyeleri</a:t>
            </a:r>
          </a:p>
          <a:p>
            <a:pPr algn="l" marL="274320" indent="-274320">
              <a:spcAft>
                <a:spcPts val="1800"/>
              </a:spcAft>
              <a:buChar char="•"/>
            </a:pPr>
            <a:r>
              <a:rPr sz="2200" b="0" i="0">
                <a:solidFill>
                  <a:srgbClr val="0E2841"/>
                </a:solidFill>
                <a:latin typeface="Times New Roman"/>
              </a:rPr>
              <a:t>Simülasyonu gerçek sipariş verisiyle ayarlamak</a:t>
            </a:r>
          </a:p>
        </p:txBody>
      </p:sp>
    </p:spTree>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A671B2E3A84BB248B2E696DC1D93210A" ma:contentTypeVersion="1" ma:contentTypeDescription="Yeni belge oluşturun." ma:contentTypeScope="" ma:versionID="f5c31893ff41146d845eeea6d5ea71c9">
  <xsd:schema xmlns:xsd="http://www.w3.org/2001/XMLSchema" xmlns:xs="http://www.w3.org/2001/XMLSchema" xmlns:p="http://schemas.microsoft.com/office/2006/metadata/properties" xmlns:ns2="3daf4d44-7736-4caf-830f-4568bd9baf20" targetNamespace="http://schemas.microsoft.com/office/2006/metadata/properties" ma:root="true" ma:fieldsID="a3b0cceceda5dc2d7cac371d6b1192ed" ns2:_="">
    <xsd:import namespace="3daf4d44-7736-4caf-830f-4568bd9baf20"/>
    <xsd:element name="properties">
      <xsd:complexType>
        <xsd:sequence>
          <xsd:element name="documentManagement">
            <xsd:complexType>
              <xsd:all>
                <xsd:element ref="ns2:Reference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daf4d44-7736-4caf-830f-4568bd9baf2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ReferenceId xmlns="3daf4d44-7736-4caf-830f-4568bd9baf20" xsi:nil="true"/>
  </documentManagement>
</p:properties>
</file>

<file path=customXml/itemProps1.xml><?xml version="1.0" encoding="utf-8"?>
<ds:datastoreItem xmlns:ds="http://schemas.openxmlformats.org/officeDocument/2006/customXml" ds:itemID="{B0EC903E-6C31-4374-BD3D-FE5635C63C38}"/>
</file>

<file path=customXml/itemProps2.xml><?xml version="1.0" encoding="utf-8"?>
<ds:datastoreItem xmlns:ds="http://schemas.openxmlformats.org/officeDocument/2006/customXml" ds:itemID="{DB31CFC4-FF69-4C1E-98F6-1585390A899A}"/>
</file>

<file path=customXml/itemProps3.xml><?xml version="1.0" encoding="utf-8"?>
<ds:datastoreItem xmlns:ds="http://schemas.openxmlformats.org/officeDocument/2006/customXml" ds:itemID="{91FEAE1B-5360-42E5-99A5-B826BFFFC3A1}"/>
</file>

<file path=docProps/app.xml><?xml version="1.0" encoding="utf-8"?>
<Properties xmlns="http://schemas.openxmlformats.org/officeDocument/2006/extended-properties" xmlns:vt="http://schemas.openxmlformats.org/officeDocument/2006/docPropsVTypes">
  <TotalTime>57</TotalTime>
  <Words>72</Words>
  <Application>Microsoft Office PowerPoint</Application>
  <PresentationFormat>Geniş ekran</PresentationFormat>
  <Paragraphs>29</Paragraphs>
  <Slides>8</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8</vt:i4>
      </vt:variant>
    </vt:vector>
  </HeadingPairs>
  <TitlesOfParts>
    <vt:vector size="13" baseType="lpstr">
      <vt:lpstr>Aptos</vt:lpstr>
      <vt:lpstr>Aptos Display</vt:lpstr>
      <vt:lpstr>Arial</vt:lpstr>
      <vt:lpstr>Times New Roman</vt:lpstr>
      <vt:lpstr>Office Teması</vt:lpstr>
      <vt:lpstr>Sunum Başlığı</vt:lpstr>
      <vt:lpstr>Proje organizasyonu</vt:lpstr>
      <vt:lpstr>Bölüm Başlığı</vt:lpstr>
      <vt:lpstr>PowerPoint Sunusu</vt:lpstr>
      <vt:lpstr>PowerPoint Sunusu</vt:lpstr>
      <vt:lpstr>PowerPoint Sunusu</vt:lpstr>
      <vt:lpstr>PowerPoint Sunusu</vt:lpstr>
      <vt:lpstr>Kaynakça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GÜNEY KAYA</dc:creator>
  <cp:lastModifiedBy>Yusuf ÖZÇEVİK</cp:lastModifiedBy>
  <cp:revision>8</cp:revision>
  <dcterms:created xsi:type="dcterms:W3CDTF">2025-12-08T13:02:36Z</dcterms:created>
  <dcterms:modified xsi:type="dcterms:W3CDTF">2025-12-19T06:08:04Z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0x010100A671B2E3A84BB248B2E696DC1D93210A</vt:lpwstr>
  </property>
</Properties>
</file>